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1"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6F2F333-BD88-4D38-5351-B8D9F3B4728D}">
          <p14:sldIdLst>
            <p14:sldId id="256"/>
            <p14:sldId id="257"/>
          </p14:sldIdLst>
        </p14:section>
        <p14:section name="The model" id="{750EB7BA-2DBB-F0E1-E223-CE1672BAA298}">
          <p14:sldIdLst>
            <p14:sldId id="258"/>
            <p14:sldId id="259"/>
          </p14:sldIdLst>
        </p14:section>
        <p14:section name="In practice" id="{514D2CF4-7587-B92D-FD79-8FC21F9555F1}">
          <p14:sldIdLst>
            <p14:sldId id="261"/>
          </p14:sldIdLst>
        </p14:section>
        <p14:section name="Conclusion" id="{94BE5E10-B28C-1C20-7C68-4CD108038A9F}">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3991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topic from Unit I is OLAP and data cubes. In the next few minutes I will show why ordinary databases struggle with analysis questions, how a data cube models the data, the five OLAP operations on a worked example, and how the cube is actually computed and stored.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An operational database, or OLTP system, stores one row per sale and is tuned to insert and update those rows quickly. But a manager does not ask about order 10231. She asks which product sold most in Chennai in February, or which city did best. Each of those questions groups the same rows by a different combination of product, location and time, and on raw transaction tables every new question means another scan of millions of rows. OLAP exists to close that gap: it keeps summarised, historical data organised by those dimensions so analysis is interactive. The table on the right is the classic operational-versus-decision-support comparison from Unit 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Take the same sales and arrange them along three axes: product, location and time. Every small cell holds one number, the measure. The highlighted cell says that phones sold in Chennai in February came to nine lakh rupees. The axes are called dimensions. Each dimension has a concept hierarchy, for example day, month, quarter, year, and those hierarchies are what make roll-up and drill-down possible. Physically the cube is usually stored as a star schema: one fact table holding the measure and the keys, joined to one table per dimension. That is the dimensional model our course outcome CO1 talks about. Real cubes have more than three dimensions; we just cannot draw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operations are how an analyst navigates the cube, and every example uses the numbers from the cube on the previous slide. Roll-up climbs a hierarchy: the three monthly cells for phones in Chennai, 8, 9 and 10, add up to 27 for the quarter. Drill-down is the reverse: the quarterly laptop total of 56 opens into 16, 19, 21. Slice fixes one dimension, here month equals February, leaving a flat product-by-city table. Dice picks values on several dimensions and leaves a smaller cube. Pivot does not change any number, it only rotates the axes. Quick check for the class: total phone sales in Chennai for the whole quarter. Answer: dice (or slice twice) to Product = Phone and City = Chennai, then roll up Month to Quarter, which gives 27 lakh.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treated the cube as if it simply exists. The engineering question is how it gets built. Every subset of the dimensions is one group-by, called a cuboid, and they form this lattice: the apex with one grand total at the top, the base cuboid with all 27 cells at the bottom. For n dimensions there are 2 to the power n cuboids. Three dimensions give eight, ten give 1,024, and once each dimension has a hierarchy the count is the product of levels plus one: ten dimensions with four levels each is about 9.8 million cuboids. That is why warehouses rarely materialise everything. They precompute a useful part, for example an iceberg cube that keeps only cells above a minimum support. The three standard algorithms from Han and Kamber are MultiWay array aggregation, BUC and Star-Cubing. Storage follows the same trade-off: ROLAP keeps the cube in relational tables, MOLAP in arrays, and HOLAP mixes both.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data cube is the model, the five operations are how we navigate it, and cube computation is the engineering that makes it fast. The same idea runs behind retail dashboards, bank risk reports, hospital occupancy reports and even our own result analysis by department and semester. One point on responsible use: aggregated data is not automatically anonymous. If a drill-down reaches a group of two or three people, their individual values can be worked out, so real systems limit drill-down depth and control who can see which levels.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pic>
        <p:nvPicPr>
          <p:cNvPr id="2" name="Image 0" descr="banner.png"/>
          <p:cNvPicPr>
            <a:picLocks noChangeAspect="1"/>
          </p:cNvPicPr>
          <p:nvPr/>
        </p:nvPicPr>
        <p:blipFill>
          <a:blip r:embed="rId2"/>
          <a:stretch>
            <a:fillRect/>
          </a:stretch>
        </p:blipFill>
        <p:spPr>
          <a:xfrm>
            <a:off x="1874520" y="384048"/>
            <a:ext cx="8439912" cy="1085935"/>
          </a:xfrm>
          <a:prstGeom prst="rect">
            <a:avLst/>
          </a:prstGeom>
        </p:spPr>
      </p:pic>
      <p:sp>
        <p:nvSpPr>
          <p:cNvPr id="3" name="Text 0"/>
          <p:cNvSpPr/>
          <p:nvPr/>
        </p:nvSpPr>
        <p:spPr>
          <a:xfrm>
            <a:off x="0" y="1627632"/>
            <a:ext cx="12191695" cy="274320"/>
          </a:xfrm>
          <a:prstGeom prst="rect">
            <a:avLst/>
          </a:prstGeom>
          <a:noFill/>
          <a:ln/>
        </p:spPr>
        <p:txBody>
          <a:bodyPr wrap="square" lIns="0" tIns="0" rIns="0" bIns="0" rtlCol="0" anchor="ctr"/>
          <a:lstStyle/>
          <a:p>
            <a:pPr marL="0" indent="0" algn="ctr">
              <a:buNone/>
            </a:pPr>
            <a:r>
              <a:rPr lang="en-US" sz="1250" kern="0" spc="100" dirty="0">
                <a:solidFill>
                  <a:schemeClr val="accent4"/>
                </a:solidFill>
              </a:rPr>
              <a:t>SUBJECT: DATA WAREHOUSING AND DATA MINING   |   COURSE CODE: CSA1604</a:t>
            </a:r>
            <a:endParaRPr lang="en-US" sz="1250" dirty="0"/>
          </a:p>
        </p:txBody>
      </p:sp>
      <p:sp>
        <p:nvSpPr>
          <p:cNvPr id="4" name="Text 1"/>
          <p:cNvSpPr/>
          <p:nvPr/>
        </p:nvSpPr>
        <p:spPr>
          <a:xfrm>
            <a:off x="548640" y="6400800"/>
            <a:ext cx="9601200" cy="274320"/>
          </a:xfrm>
          <a:prstGeom prst="rect">
            <a:avLst/>
          </a:prstGeom>
          <a:noFill/>
          <a:ln/>
        </p:spPr>
        <p:txBody>
          <a:bodyPr wrap="square" lIns="0" tIns="0" rIns="0" bIns="0" rtlCol="0" anchor="ctr"/>
          <a:lstStyle/>
          <a:p>
            <a:pPr marL="0" indent="0">
              <a:buNone/>
            </a:pPr>
            <a:r>
              <a:rPr lang="en-US" sz="1000" dirty="0">
                <a:solidFill>
                  <a:schemeClr val="accent4"/>
                </a:solidFill>
              </a:rPr>
              <a:t>OLAP &amp; Data Cubes — Data Warehousing and Data Mining  |  Technical Presentation  |  CSA1604</a:t>
            </a:r>
            <a:endParaRPr lang="en-US" sz="1000" dirty="0"/>
          </a:p>
        </p:txBody>
      </p:sp>
      <p:sp>
        <p:nvSpPr>
          <p:cNvPr id="5" name="Text 2"/>
          <p:cNvSpPr>
            <a:spLocks noGrp="1"/>
          </p:cNvSpPr>
          <p:nvPr>
            <p:ph type="title" idx="103" hasCustomPrompt="1"/>
          </p:nvPr>
        </p:nvSpPr>
        <p:spPr>
          <a:xfrm>
            <a:off x="0" y="1938528"/>
            <a:ext cx="12191695" cy="868680"/>
          </a:xfrm>
          <a:prstGeom prst="rect">
            <a:avLst/>
          </a:prstGeom>
          <a:noFill/>
          <a:ln/>
        </p:spPr>
        <p:txBody>
          <a:bodyPr wrap="square" rtlCol="0"/>
          <a:lstStyle>
            <a:lvl1pPr marL="0" indent="0" algn="ctr">
              <a:buNone/>
              <a:defRPr lang="en-US" sz="4800" b="1" dirty="0">
                <a:solidFill>
                  <a:schemeClr val="tx1"/>
                </a:solidFill>
              </a:defRPr>
            </a:lvl1pPr>
          </a:lstStyle>
          <a:p>
            <a:pPr marL="0" indent="0" algn="ctr">
              <a:buNone/>
            </a:pPr>
            <a:endParaRPr lang="en-US" sz="4800" dirty="0"/>
          </a:p>
        </p:txBody>
      </p:sp>
      <p:sp>
        <p:nvSpPr>
          <p:cNvPr id="6" name="Text 2"/>
          <p:cNvSpPr>
            <a:spLocks noGrp="1"/>
          </p:cNvSpPr>
          <p:nvPr>
            <p:ph type="body" idx="104" hasCustomPrompt="1"/>
          </p:nvPr>
        </p:nvSpPr>
        <p:spPr>
          <a:xfrm>
            <a:off x="731520" y="2743200"/>
            <a:ext cx="10725912" cy="365760"/>
          </a:xfrm>
          <a:prstGeom prst="rect">
            <a:avLst/>
          </a:prstGeom>
          <a:noFill/>
          <a:ln/>
        </p:spPr>
        <p:txBody>
          <a:bodyPr wrap="square" rtlCol="0"/>
          <a:lstStyle>
            <a:lvl1pPr marL="0" indent="0" algn="ctr">
              <a:buNone/>
              <a:defRPr lang="en-US" sz="1600" i="1" dirty="0">
                <a:solidFill>
                  <a:schemeClr val="tx2"/>
                </a:solidFill>
              </a:defRPr>
            </a:lvl1pPr>
          </a:lstStyle>
          <a:p>
            <a:pPr marL="0" indent="0" algn="ctr">
              <a:buNone/>
            </a:pP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2"/>
          <a:stretch>
            <a:fillRect/>
          </a:stretch>
        </p:blipFill>
        <p:spPr>
          <a:xfrm>
            <a:off x="10276063" y="274320"/>
            <a:ext cx="534889" cy="704088"/>
          </a:xfrm>
          <a:prstGeom prst="rect">
            <a:avLst/>
          </a:prstGeom>
        </p:spPr>
      </p:pic>
      <p:pic>
        <p:nvPicPr>
          <p:cNvPr id="3" name="Image 1" descr="seal.png"/>
          <p:cNvPicPr>
            <a:picLocks noChangeAspect="1"/>
          </p:cNvPicPr>
          <p:nvPr/>
        </p:nvPicPr>
        <p:blipFill>
          <a:blip r:embed="rId3"/>
          <a:stretch>
            <a:fillRect/>
          </a:stretch>
        </p:blipFill>
        <p:spPr>
          <a:xfrm>
            <a:off x="10938967" y="274320"/>
            <a:ext cx="704088" cy="704088"/>
          </a:xfrm>
          <a:prstGeom prst="rect">
            <a:avLst/>
          </a:prstGeom>
        </p:spPr>
      </p:pic>
      <p:sp>
        <p:nvSpPr>
          <p:cNvPr id="4" name="Text 0"/>
          <p:cNvSpPr/>
          <p:nvPr/>
        </p:nvSpPr>
        <p:spPr>
          <a:xfrm>
            <a:off x="548640" y="6400800"/>
            <a:ext cx="9601200" cy="274320"/>
          </a:xfrm>
          <a:prstGeom prst="rect">
            <a:avLst/>
          </a:prstGeom>
          <a:noFill/>
          <a:ln/>
        </p:spPr>
        <p:txBody>
          <a:bodyPr wrap="square" lIns="0" tIns="0" rIns="0" bIns="0" rtlCol="0" anchor="ctr"/>
          <a:lstStyle/>
          <a:p>
            <a:pPr marL="0" indent="0">
              <a:buNone/>
            </a:pPr>
            <a:r>
              <a:rPr lang="en-US" sz="1000" dirty="0">
                <a:solidFill>
                  <a:schemeClr val="accent4"/>
                </a:solidFill>
              </a:rPr>
              <a:t>OLAP &amp; Data Cubes — Data Warehousing and Data Mining  |  Technical Presentation  |  CSA1604</a:t>
            </a:r>
            <a:endParaRPr lang="en-US" sz="1000" dirty="0"/>
          </a:p>
        </p:txBody>
      </p:sp>
      <p:sp>
        <p:nvSpPr>
          <p:cNvPr id="5" name="Text 1"/>
          <p:cNvSpPr>
            <a:spLocks noGrp="1"/>
          </p:cNvSpPr>
          <p:nvPr>
            <p:ph type="body" idx="103" hasCustomPrompt="1"/>
          </p:nvPr>
        </p:nvSpPr>
        <p:spPr>
          <a:xfrm>
            <a:off x="548640" y="411480"/>
            <a:ext cx="8229600" cy="274320"/>
          </a:xfrm>
          <a:prstGeom prst="rect">
            <a:avLst/>
          </a:prstGeom>
          <a:noFill/>
          <a:ln/>
        </p:spPr>
        <p:txBody>
          <a:bodyPr wrap="square" rtlCol="0"/>
          <a:lstStyle>
            <a:lvl1pPr marL="0" indent="0">
              <a:buNone/>
              <a:defRPr lang="en-US" sz="1200" b="1" kern="0" spc="300" dirty="0">
                <a:solidFill>
                  <a:schemeClr val="accent3"/>
                </a:solidFill>
              </a:defRPr>
            </a:lvl1pPr>
          </a:lstStyle>
          <a:p>
            <a:pPr marL="0" indent="0">
              <a:buNone/>
            </a:pPr>
            <a:endParaRPr lang="en-US" sz="1200" dirty="0"/>
          </a:p>
        </p:txBody>
      </p:sp>
      <p:sp>
        <p:nvSpPr>
          <p:cNvPr id="6" name="Text 1"/>
          <p:cNvSpPr>
            <a:spLocks noGrp="1"/>
          </p:cNvSpPr>
          <p:nvPr>
            <p:ph type="title" idx="104" hasCustomPrompt="1"/>
          </p:nvPr>
        </p:nvSpPr>
        <p:spPr>
          <a:xfrm>
            <a:off x="548640" y="749808"/>
            <a:ext cx="9509760" cy="9601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idx="103" hasCustomPrompt="1"/>
          </p:nvPr>
        </p:nvSpPr>
        <p:spPr>
          <a:xfrm>
            <a:off x="0" y="1938528"/>
            <a:ext cx="12191695" cy="868680"/>
          </a:xfrm>
          <a:prstGeom prst="rect">
            <a:avLst/>
          </a:prstGeom>
          <a:noFill/>
          <a:ln/>
        </p:spPr>
        <p:txBody>
          <a:bodyPr wrap="square" lIns="0" tIns="0" rIns="0" bIns="0" rtlCol="0" anchor="ctr"/>
          <a:lstStyle/>
          <a:p>
            <a:pPr marL="0" indent="0" algn="ctr">
              <a:buNone/>
            </a:pPr>
            <a:r>
              <a:rPr lang="en-US" sz="4800" b="1" dirty="0">
                <a:solidFill>
                  <a:schemeClr val="tx1"/>
                </a:solidFill>
              </a:rPr>
              <a:t>OLAP &amp; Data Cubes</a:t>
            </a:r>
            <a:endParaRPr lang="en-US" sz="4800" dirty="0"/>
          </a:p>
        </p:txBody>
      </p:sp>
      <p:sp>
        <p:nvSpPr>
          <p:cNvPr id="3" name="Text 2"/>
          <p:cNvSpPr>
            <a:spLocks noGrp="1"/>
          </p:cNvSpPr>
          <p:nvPr>
            <p:ph type="body" idx="104" hasCustomPrompt="1"/>
          </p:nvPr>
        </p:nvSpPr>
        <p:spPr>
          <a:xfrm>
            <a:off x="731520" y="2743200"/>
            <a:ext cx="10725912" cy="365760"/>
          </a:xfrm>
          <a:prstGeom prst="rect">
            <a:avLst/>
          </a:prstGeom>
          <a:noFill/>
          <a:ln/>
        </p:spPr>
        <p:txBody>
          <a:bodyPr wrap="square" lIns="0" tIns="0" rIns="0" bIns="0" rtlCol="0"/>
          <a:lstStyle/>
          <a:p>
            <a:pPr marL="0" indent="0" algn="ctr">
              <a:buNone/>
            </a:pPr>
            <a:r>
              <a:rPr lang="en-US" sz="1600" i="1" dirty="0">
                <a:solidFill>
                  <a:schemeClr val="tx2"/>
                </a:solidFill>
              </a:rPr>
              <a:t>Analysing data from different perspectives</a:t>
            </a:r>
            <a:endParaRPr lang="en-US" sz="1600" dirty="0"/>
          </a:p>
        </p:txBody>
      </p:sp>
      <p:sp>
        <p:nvSpPr>
          <p:cNvPr id="4" name="Text 2"/>
          <p:cNvSpPr txBox="1"/>
          <p:nvPr/>
        </p:nvSpPr>
        <p:spPr>
          <a:xfrm>
            <a:off x="3261208" y="3200400"/>
            <a:ext cx="2331720" cy="292608"/>
          </a:xfrm>
          <a:prstGeom prst="roundRect">
            <a:avLst>
              <a:gd name="adj" fmla="val 50000"/>
            </a:avLst>
          </a:prstGeom>
          <a:solidFill>
            <a:schemeClr val="accent3">
              <a:alpha val="10000"/>
            </a:schemeClr>
          </a:solidFill>
          <a:ln w="12700">
            <a:solidFill>
              <a:schemeClr val="accent3"/>
            </a:solidFill>
          </a:ln>
        </p:spPr>
        <p:txBody>
          <a:bodyPr wrap="square" lIns="0" tIns="0" rIns="0" bIns="0" rtlCol="0" anchor="ctr"/>
          <a:lstStyle/>
          <a:p>
            <a:pPr marL="0" indent="0" algn="ctr">
              <a:buNone/>
            </a:pPr>
            <a:r>
              <a:rPr lang="en-US" sz="1050" b="1" dirty="0">
                <a:solidFill>
                  <a:schemeClr val="accent3"/>
                </a:solidFill>
              </a:rPr>
              <a:t>TECHNICAL PRESENTATION</a:t>
            </a:r>
            <a:endParaRPr lang="en-US" sz="1050" dirty="0"/>
          </a:p>
        </p:txBody>
      </p:sp>
      <p:sp>
        <p:nvSpPr>
          <p:cNvPr id="5" name="Text 3"/>
          <p:cNvSpPr txBox="1"/>
          <p:nvPr/>
        </p:nvSpPr>
        <p:spPr>
          <a:xfrm>
            <a:off x="5730088" y="3200400"/>
            <a:ext cx="1097280" cy="292608"/>
          </a:xfrm>
          <a:prstGeom prst="roundRect">
            <a:avLst>
              <a:gd name="adj" fmla="val 50000"/>
            </a:avLst>
          </a:prstGeom>
          <a:solidFill>
            <a:schemeClr val="accent2">
              <a:alpha val="20000"/>
            </a:schemeClr>
          </a:solidFill>
          <a:ln w="12700">
            <a:solidFill>
              <a:schemeClr val="accent2"/>
            </a:solidFill>
          </a:ln>
        </p:spPr>
        <p:txBody>
          <a:bodyPr wrap="square" lIns="0" tIns="0" rIns="0" bIns="0" rtlCol="0" anchor="ctr"/>
          <a:lstStyle/>
          <a:p>
            <a:pPr marL="0" indent="0" algn="ctr">
              <a:buNone/>
            </a:pPr>
            <a:r>
              <a:rPr lang="en-US" sz="1050" b="1" dirty="0">
                <a:solidFill>
                  <a:schemeClr val="tx1"/>
                </a:solidFill>
              </a:rPr>
              <a:t>CO1</a:t>
            </a:r>
            <a:endParaRPr lang="en-US" sz="1050" dirty="0"/>
          </a:p>
        </p:txBody>
      </p:sp>
      <p:sp>
        <p:nvSpPr>
          <p:cNvPr id="6" name="Text 4"/>
          <p:cNvSpPr txBox="1"/>
          <p:nvPr/>
        </p:nvSpPr>
        <p:spPr>
          <a:xfrm>
            <a:off x="6964528" y="3200400"/>
            <a:ext cx="1965960" cy="292608"/>
          </a:xfrm>
          <a:prstGeom prst="roundRect">
            <a:avLst>
              <a:gd name="adj" fmla="val 50000"/>
            </a:avLst>
          </a:prstGeom>
          <a:solidFill>
            <a:schemeClr val="tx1">
              <a:alpha val="5000"/>
            </a:schemeClr>
          </a:solidFill>
          <a:ln w="12700">
            <a:solidFill>
              <a:schemeClr val="tx1"/>
            </a:solidFill>
          </a:ln>
        </p:spPr>
        <p:txBody>
          <a:bodyPr wrap="square" lIns="0" tIns="0" rIns="0" bIns="0" rtlCol="0" anchor="ctr"/>
          <a:lstStyle/>
          <a:p>
            <a:pPr marL="0" indent="0" algn="ctr">
              <a:buNone/>
            </a:pPr>
            <a:r>
              <a:rPr lang="en-US" sz="1050" b="1" dirty="0">
                <a:solidFill>
                  <a:schemeClr val="tx1"/>
                </a:solidFill>
              </a:rPr>
              <a:t>ASSESSMENT TOOL 2</a:t>
            </a:r>
            <a:endParaRPr lang="en-US" sz="1050" dirty="0"/>
          </a:p>
        </p:txBody>
      </p:sp>
      <p:sp>
        <p:nvSpPr>
          <p:cNvPr id="7" name="card-STUDENT DETAILS"/>
          <p:cNvSpPr/>
          <p:nvPr/>
        </p:nvSpPr>
        <p:spPr>
          <a:xfrm>
            <a:off x="2383384" y="3794760"/>
            <a:ext cx="3575304" cy="1508760"/>
          </a:xfrm>
          <a:prstGeom prst="roundRect">
            <a:avLst>
              <a:gd name="adj" fmla="val 4848"/>
            </a:avLst>
          </a:prstGeom>
          <a:solidFill>
            <a:schemeClr val="bg2"/>
          </a:solidFill>
          <a:ln w="12700">
            <a:solidFill>
              <a:schemeClr val="accent5"/>
            </a:solidFill>
            <a:prstDash val="solid"/>
          </a:ln>
        </p:spPr>
      </p:sp>
      <p:sp>
        <p:nvSpPr>
          <p:cNvPr id="8" name="Shape 6"/>
          <p:cNvSpPr/>
          <p:nvPr/>
        </p:nvSpPr>
        <p:spPr>
          <a:xfrm>
            <a:off x="2383384" y="3794760"/>
            <a:ext cx="54864" cy="1508760"/>
          </a:xfrm>
          <a:prstGeom prst="rect">
            <a:avLst/>
          </a:prstGeom>
          <a:solidFill>
            <a:schemeClr val="accent3"/>
          </a:solidFill>
          <a:ln w="12700">
            <a:solidFill>
              <a:schemeClr val="accent3"/>
            </a:solidFill>
            <a:prstDash val="solid"/>
          </a:ln>
        </p:spPr>
      </p:sp>
      <p:sp>
        <p:nvSpPr>
          <p:cNvPr id="9" name="Text 7"/>
          <p:cNvSpPr txBox="1"/>
          <p:nvPr/>
        </p:nvSpPr>
        <p:spPr>
          <a:xfrm>
            <a:off x="2611984" y="3941064"/>
            <a:ext cx="3200400" cy="274320"/>
          </a:xfrm>
          <a:prstGeom prst="rect">
            <a:avLst/>
          </a:prstGeom>
          <a:noFill/>
          <a:ln/>
        </p:spPr>
        <p:txBody>
          <a:bodyPr wrap="square" lIns="0" tIns="0" rIns="0" bIns="0" rtlCol="0" anchor="ctr"/>
          <a:lstStyle/>
          <a:p>
            <a:pPr marL="0" indent="0">
              <a:buNone/>
            </a:pPr>
            <a:r>
              <a:rPr lang="en-US" sz="1150" b="1" kern="0" spc="150" dirty="0">
                <a:solidFill>
                  <a:schemeClr val="accent3"/>
                </a:solidFill>
              </a:rPr>
              <a:t>STUDENT DETAILS</a:t>
            </a:r>
            <a:endParaRPr lang="en-US" sz="1150" dirty="0"/>
          </a:p>
        </p:txBody>
      </p:sp>
      <p:sp>
        <p:nvSpPr>
          <p:cNvPr id="10" name="Text 8"/>
          <p:cNvSpPr txBox="1"/>
          <p:nvPr/>
        </p:nvSpPr>
        <p:spPr>
          <a:xfrm>
            <a:off x="2611984" y="4315968"/>
            <a:ext cx="3200400" cy="310896"/>
          </a:xfrm>
          <a:prstGeom prst="rect">
            <a:avLst/>
          </a:prstGeom>
          <a:noFill/>
          <a:ln/>
        </p:spPr>
        <p:txBody>
          <a:bodyPr wrap="square" lIns="0" tIns="0" rIns="0" bIns="0" rtlCol="0" anchor="ctr"/>
          <a:lstStyle/>
          <a:p>
            <a:pPr marL="0" indent="0">
              <a:buNone/>
            </a:pPr>
            <a:r>
              <a:rPr lang="en-US" sz="1500" b="1" dirty="0">
                <a:solidFill>
                  <a:schemeClr val="tx1"/>
                </a:solidFill>
              </a:rPr>
              <a:t>Vino Aldrin E</a:t>
            </a:r>
            <a:endParaRPr lang="en-US" sz="1500" dirty="0"/>
          </a:p>
        </p:txBody>
      </p:sp>
      <p:sp>
        <p:nvSpPr>
          <p:cNvPr id="11" name="Text 9"/>
          <p:cNvSpPr txBox="1"/>
          <p:nvPr/>
        </p:nvSpPr>
        <p:spPr>
          <a:xfrm>
            <a:off x="2611984" y="4663440"/>
            <a:ext cx="3200400" cy="502920"/>
          </a:xfrm>
          <a:prstGeom prst="rect">
            <a:avLst/>
          </a:prstGeom>
          <a:noFill/>
          <a:ln/>
        </p:spPr>
        <p:txBody>
          <a:bodyPr wrap="square" lIns="0" tIns="0" rIns="0" bIns="0" rtlCol="0" anchor="t"/>
          <a:lstStyle/>
          <a:p>
            <a:pPr marL="0" indent="0">
              <a:buNone/>
            </a:pPr>
            <a:r>
              <a:rPr lang="en-US" sz="1250" dirty="0">
                <a:solidFill>
                  <a:schemeClr val="tx1"/>
                </a:solidFill>
              </a:rPr>
              <a:t>Regn No: 192511481</a:t>
            </a:r>
            <a:endParaRPr lang="en-US" sz="1250" dirty="0"/>
          </a:p>
          <a:p>
            <a:pPr marL="0" indent="0">
              <a:buNone/>
            </a:pPr>
            <a:r>
              <a:rPr lang="en-US" sz="1250" dirty="0">
                <a:solidFill>
                  <a:schemeClr val="tx1"/>
                </a:solidFill>
              </a:rPr>
              <a:t>Dept: B.E Computer Science Engineering</a:t>
            </a:r>
            <a:endParaRPr lang="en-US" sz="1250" dirty="0"/>
          </a:p>
        </p:txBody>
      </p:sp>
      <p:sp>
        <p:nvSpPr>
          <p:cNvPr id="12" name="card-COURSE FACULTY"/>
          <p:cNvSpPr/>
          <p:nvPr/>
        </p:nvSpPr>
        <p:spPr>
          <a:xfrm>
            <a:off x="6233008" y="3794760"/>
            <a:ext cx="3575304" cy="1508760"/>
          </a:xfrm>
          <a:prstGeom prst="roundRect">
            <a:avLst>
              <a:gd name="adj" fmla="val 4848"/>
            </a:avLst>
          </a:prstGeom>
          <a:solidFill>
            <a:schemeClr val="bg2"/>
          </a:solidFill>
          <a:ln w="12700">
            <a:solidFill>
              <a:schemeClr val="accent5"/>
            </a:solidFill>
            <a:prstDash val="solid"/>
          </a:ln>
        </p:spPr>
      </p:sp>
      <p:sp>
        <p:nvSpPr>
          <p:cNvPr id="13" name="Shape 11"/>
          <p:cNvSpPr/>
          <p:nvPr/>
        </p:nvSpPr>
        <p:spPr>
          <a:xfrm>
            <a:off x="6233008" y="3794760"/>
            <a:ext cx="54864" cy="1508760"/>
          </a:xfrm>
          <a:prstGeom prst="rect">
            <a:avLst/>
          </a:prstGeom>
          <a:solidFill>
            <a:schemeClr val="accent3"/>
          </a:solidFill>
          <a:ln w="12700">
            <a:solidFill>
              <a:schemeClr val="accent3"/>
            </a:solidFill>
            <a:prstDash val="solid"/>
          </a:ln>
        </p:spPr>
      </p:sp>
      <p:sp>
        <p:nvSpPr>
          <p:cNvPr id="14" name="Text 12"/>
          <p:cNvSpPr txBox="1"/>
          <p:nvPr/>
        </p:nvSpPr>
        <p:spPr>
          <a:xfrm>
            <a:off x="6461608" y="3941064"/>
            <a:ext cx="3200400" cy="274320"/>
          </a:xfrm>
          <a:prstGeom prst="rect">
            <a:avLst/>
          </a:prstGeom>
          <a:noFill/>
          <a:ln/>
        </p:spPr>
        <p:txBody>
          <a:bodyPr wrap="square" lIns="0" tIns="0" rIns="0" bIns="0" rtlCol="0" anchor="ctr"/>
          <a:lstStyle/>
          <a:p>
            <a:pPr marL="0" indent="0">
              <a:buNone/>
            </a:pPr>
            <a:r>
              <a:rPr lang="en-US" sz="1150" b="1" kern="0" spc="150" dirty="0">
                <a:solidFill>
                  <a:schemeClr val="accent3"/>
                </a:solidFill>
              </a:rPr>
              <a:t>COURSE FACULTY</a:t>
            </a:r>
            <a:endParaRPr lang="en-US" sz="1150" dirty="0"/>
          </a:p>
        </p:txBody>
      </p:sp>
      <p:sp>
        <p:nvSpPr>
          <p:cNvPr id="15" name="Text 13"/>
          <p:cNvSpPr txBox="1"/>
          <p:nvPr/>
        </p:nvSpPr>
        <p:spPr>
          <a:xfrm>
            <a:off x="6461608" y="4315968"/>
            <a:ext cx="3200400" cy="310896"/>
          </a:xfrm>
          <a:prstGeom prst="rect">
            <a:avLst/>
          </a:prstGeom>
          <a:noFill/>
          <a:ln/>
        </p:spPr>
        <p:txBody>
          <a:bodyPr wrap="square" lIns="0" tIns="0" rIns="0" bIns="0" rtlCol="0" anchor="ctr"/>
          <a:lstStyle/>
          <a:p>
            <a:pPr marL="0" indent="0">
              <a:buNone/>
            </a:pPr>
            <a:r>
              <a:rPr lang="en-US" sz="1500" b="1" dirty="0">
                <a:solidFill>
                  <a:schemeClr val="tx1"/>
                </a:solidFill>
              </a:rPr>
              <a:t>Dr. K.V. Kanimozhi</a:t>
            </a:r>
            <a:endParaRPr lang="en-US" sz="1500" dirty="0"/>
          </a:p>
        </p:txBody>
      </p:sp>
      <p:sp>
        <p:nvSpPr>
          <p:cNvPr id="16" name="Text 14"/>
          <p:cNvSpPr txBox="1"/>
          <p:nvPr/>
        </p:nvSpPr>
        <p:spPr>
          <a:xfrm>
            <a:off x="6461608" y="4663440"/>
            <a:ext cx="3200400" cy="502920"/>
          </a:xfrm>
          <a:prstGeom prst="rect">
            <a:avLst/>
          </a:prstGeom>
          <a:noFill/>
          <a:ln/>
        </p:spPr>
        <p:txBody>
          <a:bodyPr wrap="square" lIns="0" tIns="0" rIns="0" bIns="0" rtlCol="0" anchor="t"/>
          <a:lstStyle/>
          <a:p>
            <a:pPr marL="0" indent="0">
              <a:buNone/>
            </a:pPr>
            <a:r>
              <a:rPr lang="en-US" sz="1250" dirty="0">
                <a:solidFill>
                  <a:schemeClr val="tx1"/>
                </a:solidFill>
              </a:rPr>
              <a:t>Dept. of CSE</a:t>
            </a:r>
            <a:endParaRPr lang="en-US" sz="1250" dirty="0"/>
          </a:p>
        </p:txBody>
      </p:sp>
      <p:sp>
        <p:nvSpPr>
          <p:cNvPr id="17" name="Text 15"/>
          <p:cNvSpPr txBox="1"/>
          <p:nvPr/>
        </p:nvSpPr>
        <p:spPr>
          <a:xfrm>
            <a:off x="0" y="5623560"/>
            <a:ext cx="12191695" cy="274320"/>
          </a:xfrm>
          <a:prstGeom prst="rect">
            <a:avLst/>
          </a:prstGeom>
          <a:noFill/>
          <a:ln/>
        </p:spPr>
        <p:txBody>
          <a:bodyPr wrap="square" lIns="0" tIns="0" rIns="0" bIns="0" rtlCol="0" anchor="ctr"/>
          <a:lstStyle/>
          <a:p>
            <a:pPr marL="0" indent="0" algn="ctr">
              <a:buNone/>
            </a:pPr>
            <a:r>
              <a:rPr lang="en-US" sz="1050" i="1" dirty="0">
                <a:solidFill>
                  <a:schemeClr val="accent4"/>
                </a:solidFill>
              </a:rPr>
              <a:t>Code of Conduct: Integrity in Work  •  Professionalism in Practice  •  Safety First  •  Respect for All</a:t>
            </a:r>
            <a:endParaRPr lang="en-US" sz="10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411480"/>
            <a:ext cx="8229600" cy="274320"/>
          </a:xfrm>
          <a:prstGeom prst="rect">
            <a:avLst/>
          </a:prstGeom>
          <a:noFill/>
          <a:ln/>
        </p:spPr>
        <p:txBody>
          <a:bodyPr wrap="square" lIns="0" tIns="0" rIns="0" bIns="0" rtlCol="0"/>
          <a:lstStyle/>
          <a:p>
            <a:pPr marL="0" indent="0">
              <a:buNone/>
            </a:pPr>
            <a:r>
              <a:rPr lang="en-US" sz="1200" b="1" kern="0" spc="300" dirty="0">
                <a:solidFill>
                  <a:schemeClr val="accent3"/>
                </a:solidFill>
              </a:rPr>
              <a:t>01  ·  THE PROBLEM</a:t>
            </a:r>
            <a:endParaRPr lang="en-US" sz="1200" dirty="0"/>
          </a:p>
        </p:txBody>
      </p:sp>
      <p:sp>
        <p:nvSpPr>
          <p:cNvPr id="3" name="Text 1"/>
          <p:cNvSpPr>
            <a:spLocks noGrp="1"/>
          </p:cNvSpPr>
          <p:nvPr>
            <p:ph type="title" idx="104" hasCustomPrompt="1"/>
          </p:nvPr>
        </p:nvSpPr>
        <p:spPr>
          <a:xfrm>
            <a:off x="548640" y="749808"/>
            <a:ext cx="9509760" cy="960120"/>
          </a:xfrm>
          <a:prstGeom prst="rect">
            <a:avLst/>
          </a:prstGeom>
          <a:noFill/>
          <a:ln/>
        </p:spPr>
        <p:txBody>
          <a:bodyPr wrap="square" lIns="0" tIns="0" rIns="0" bIns="0" rtlCol="0" anchor="t"/>
          <a:lstStyle/>
          <a:p>
            <a:pPr marL="0" indent="0" algn="l">
              <a:buNone/>
            </a:pPr>
            <a:r>
              <a:rPr lang="en-US" sz="3000" b="1" dirty="0">
                <a:solidFill>
                  <a:schemeClr val="tx1"/>
                </a:solidFill>
              </a:rPr>
              <a:t>A sales database records every order, but it cannot answer the manager</a:t>
            </a:r>
            <a:endParaRPr lang="en-US" sz="3000" dirty="0"/>
          </a:p>
        </p:txBody>
      </p:sp>
      <p:sp>
        <p:nvSpPr>
          <p:cNvPr id="4" name="Text 2"/>
          <p:cNvSpPr txBox="1"/>
          <p:nvPr/>
        </p:nvSpPr>
        <p:spPr>
          <a:xfrm>
            <a:off x="548640" y="1874520"/>
            <a:ext cx="5212080"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WHAT THE DATABASE STORES (OLTP)</a:t>
            </a:r>
            <a:endParaRPr lang="en-US" sz="1100" dirty="0"/>
          </a:p>
        </p:txBody>
      </p:sp>
      <p:graphicFrame>
        <p:nvGraphicFramePr>
          <p:cNvPr id="21" name="oltp-table"/>
          <p:cNvGraphicFramePr>
            <a:graphicFrameLocks noGrp="1"/>
          </p:cNvGraphicFramePr>
          <p:nvPr>
            <p:extLst>
              <p:ext uri="{D42A27DB-BD31-4B8C-83A1-F6EECF244321}">
                <p14:modId xmlns:p14="http://schemas.microsoft.com/office/powerpoint/2010/main" val="1579011935"/>
              </p:ext>
            </p:extLst>
          </p:nvPr>
        </p:nvGraphicFramePr>
        <p:xfrm>
          <a:off x="548640" y="2194560"/>
          <a:ext cx="5212080" cy="1810512"/>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01752">
                <a:tc>
                  <a:txBody>
                    <a:bodyPr/>
                    <a:lstStyle/>
                    <a:p>
                      <a:pPr marL="0" indent="0" algn="l">
                        <a:buNone/>
                      </a:pPr>
                      <a:r>
                        <a:rPr lang="en-US" sz="1200" b="1" dirty="0">
                          <a:solidFill>
                            <a:schemeClr val="bg1"/>
                          </a:solidFill>
                        </a:rPr>
                        <a:t>Order</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lgn="l">
                        <a:buNone/>
                      </a:pPr>
                      <a:r>
                        <a:rPr lang="en-US" sz="1200" b="1" dirty="0">
                          <a:solidFill>
                            <a:schemeClr val="bg1"/>
                          </a:solidFill>
                        </a:rPr>
                        <a:t>Product</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lgn="l">
                        <a:buNone/>
                      </a:pPr>
                      <a:r>
                        <a:rPr lang="en-US" sz="1200" b="1" dirty="0">
                          <a:solidFill>
                            <a:schemeClr val="bg1"/>
                          </a:solidFill>
                        </a:rPr>
                        <a:t>City</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lgn="l">
                        <a:buNone/>
                      </a:pPr>
                      <a:r>
                        <a:rPr lang="en-US" sz="1200" b="1" dirty="0">
                          <a:solidFill>
                            <a:schemeClr val="bg1"/>
                          </a:solidFill>
                        </a:rPr>
                        <a:t>Date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lgn="r">
                        <a:buNone/>
                      </a:pPr>
                      <a:r>
                        <a:rPr lang="en-US" sz="1200" b="1" dirty="0">
                          <a:solidFill>
                            <a:schemeClr val="bg1"/>
                          </a:solidFill>
                        </a:rPr>
                        <a:t>Amount</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301752">
                <a:tc>
                  <a:txBody>
                    <a:bodyPr/>
                    <a:lstStyle/>
                    <a:p>
                      <a:pPr marL="0" indent="0" algn="l">
                        <a:buNone/>
                      </a:pPr>
                      <a:r>
                        <a:rPr lang="en-US" sz="1200" dirty="0">
                          <a:solidFill>
                            <a:schemeClr val="tx1"/>
                          </a:solidFill>
                        </a:rPr>
                        <a:t>#10231</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Laptop</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Chennai</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03-Jan</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₹62,000</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1752">
                <a:tc>
                  <a:txBody>
                    <a:bodyPr/>
                    <a:lstStyle/>
                    <a:p>
                      <a:pPr marL="0" indent="0" algn="l">
                        <a:buNone/>
                      </a:pPr>
                      <a:r>
                        <a:rPr lang="en-US" sz="1200" dirty="0">
                          <a:solidFill>
                            <a:schemeClr val="tx1"/>
                          </a:solidFill>
                        </a:rPr>
                        <a:t>#10232</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Phone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Chennai</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03-Jan</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₹18,500</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01752">
                <a:tc>
                  <a:txBody>
                    <a:bodyPr/>
                    <a:lstStyle/>
                    <a:p>
                      <a:pPr marL="0" indent="0" algn="l">
                        <a:buNone/>
                      </a:pPr>
                      <a:r>
                        <a:rPr lang="en-US" sz="1200" dirty="0">
                          <a:solidFill>
                            <a:schemeClr val="tx1"/>
                          </a:solidFill>
                        </a:rPr>
                        <a:t>#10233</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Phone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Bangalore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04-Jan</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₹21,000</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1752">
                <a:tc>
                  <a:txBody>
                    <a:bodyPr/>
                    <a:lstStyle/>
                    <a:p>
                      <a:pPr marL="0" indent="0" algn="l">
                        <a:buNone/>
                      </a:pPr>
                      <a:r>
                        <a:rPr lang="en-US" sz="1200" dirty="0">
                          <a:solidFill>
                            <a:schemeClr val="tx1"/>
                          </a:solidFill>
                        </a:rPr>
                        <a:t>#10234</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Tablet</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Hyderabad</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04-Jan</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a:txBody>
                    <a:bodyPr/>
                    <a:lstStyle/>
                    <a:p>
                      <a:pPr marL="0" indent="0" algn="r">
                        <a:buNone/>
                      </a:pPr>
                      <a:r>
                        <a:rPr lang="en-US" sz="1200" dirty="0">
                          <a:solidFill>
                            <a:schemeClr val="tx1"/>
                          </a:solidFill>
                        </a:rPr>
                        <a:t>₹27,000</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01752">
                <a:tc gridSpan="5">
                  <a:txBody>
                    <a:bodyPr/>
                    <a:lstStyle/>
                    <a:p>
                      <a:pPr marL="0" indent="0">
                        <a:buNone/>
                      </a:pPr>
                      <a:r>
                        <a:rPr lang="en-US" sz="1200" i="1" dirty="0">
                          <a:solidFill>
                            <a:schemeClr val="accent4"/>
                          </a:solidFill>
                        </a:rPr>
                        <a:t>…  and millions more rows, one per sale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6" name="Text 3"/>
          <p:cNvSpPr txBox="1"/>
          <p:nvPr/>
        </p:nvSpPr>
        <p:spPr>
          <a:xfrm>
            <a:off x="548640" y="4206240"/>
            <a:ext cx="5212080"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WHAT THE MANAGER ASKS</a:t>
            </a:r>
            <a:endParaRPr lang="en-US" sz="1100" dirty="0"/>
          </a:p>
        </p:txBody>
      </p:sp>
      <p:sp>
        <p:nvSpPr>
          <p:cNvPr id="7" name="ask-0"/>
          <p:cNvSpPr/>
          <p:nvPr/>
        </p:nvSpPr>
        <p:spPr>
          <a:xfrm>
            <a:off x="548640" y="4507992"/>
            <a:ext cx="5212080" cy="457200"/>
          </a:xfrm>
          <a:prstGeom prst="roundRect">
            <a:avLst>
              <a:gd name="adj" fmla="val 16000"/>
            </a:avLst>
          </a:prstGeom>
          <a:solidFill>
            <a:schemeClr val="bg2"/>
          </a:solidFill>
          <a:ln w="12700">
            <a:solidFill>
              <a:schemeClr val="bg2"/>
            </a:solidFill>
            <a:prstDash val="solid"/>
          </a:ln>
        </p:spPr>
      </p:sp>
      <p:sp>
        <p:nvSpPr>
          <p:cNvPr id="8" name="Text 5"/>
          <p:cNvSpPr txBox="1"/>
          <p:nvPr/>
        </p:nvSpPr>
        <p:spPr>
          <a:xfrm>
            <a:off x="713232" y="4507992"/>
            <a:ext cx="3017520" cy="457200"/>
          </a:xfrm>
          <a:prstGeom prst="rect">
            <a:avLst/>
          </a:prstGeom>
          <a:noFill/>
          <a:ln/>
        </p:spPr>
        <p:txBody>
          <a:bodyPr wrap="square" lIns="0" tIns="0" rIns="0" bIns="0" rtlCol="0" anchor="ctr"/>
          <a:lstStyle/>
          <a:p>
            <a:pPr marL="0" indent="0">
              <a:buNone/>
            </a:pPr>
            <a:r>
              <a:rPr lang="en-US" sz="1200" b="1" dirty="0">
                <a:solidFill>
                  <a:schemeClr val="tx1"/>
                </a:solidFill>
              </a:rPr>
              <a:t>Which product sold most in Chennai in February?</a:t>
            </a:r>
            <a:endParaRPr lang="en-US" sz="1200" dirty="0"/>
          </a:p>
        </p:txBody>
      </p:sp>
      <p:sp>
        <p:nvSpPr>
          <p:cNvPr id="9" name="Text 6"/>
          <p:cNvSpPr txBox="1"/>
          <p:nvPr/>
        </p:nvSpPr>
        <p:spPr>
          <a:xfrm>
            <a:off x="3675888" y="4626864"/>
            <a:ext cx="603504" cy="219456"/>
          </a:xfrm>
          <a:prstGeom prst="roundRect">
            <a:avLst>
              <a:gd name="adj" fmla="val 25000"/>
            </a:avLst>
          </a:prstGeom>
          <a:solidFill>
            <a:schemeClr val="accent2"/>
          </a:solidFill>
          <a:ln/>
        </p:spPr>
        <p:txBody>
          <a:bodyPr wrap="square" lIns="0" tIns="0" rIns="0" bIns="0" rtlCol="0" anchor="ctr"/>
          <a:lstStyle/>
          <a:p>
            <a:pPr marL="0" indent="0" algn="ctr">
              <a:buNone/>
            </a:pPr>
            <a:r>
              <a:rPr lang="en-US" sz="900" b="1" dirty="0">
                <a:solidFill>
                  <a:schemeClr val="tx1"/>
                </a:solidFill>
              </a:rPr>
              <a:t>Product</a:t>
            </a:r>
            <a:endParaRPr lang="en-US" sz="900" dirty="0"/>
          </a:p>
        </p:txBody>
      </p:sp>
      <p:sp>
        <p:nvSpPr>
          <p:cNvPr id="10" name="Text 7"/>
          <p:cNvSpPr txBox="1"/>
          <p:nvPr/>
        </p:nvSpPr>
        <p:spPr>
          <a:xfrm>
            <a:off x="4334256" y="4626864"/>
            <a:ext cx="603504" cy="219456"/>
          </a:xfrm>
          <a:prstGeom prst="roundRect">
            <a:avLst>
              <a:gd name="adj" fmla="val 25000"/>
            </a:avLst>
          </a:prstGeom>
          <a:solidFill>
            <a:schemeClr val="accent3"/>
          </a:solidFill>
          <a:ln/>
        </p:spPr>
        <p:txBody>
          <a:bodyPr wrap="square" lIns="0" tIns="0" rIns="0" bIns="0" rtlCol="0" anchor="ctr"/>
          <a:lstStyle/>
          <a:p>
            <a:pPr marL="0" indent="0" algn="ctr">
              <a:buNone/>
            </a:pPr>
            <a:r>
              <a:rPr lang="en-US" sz="900" b="1" dirty="0">
                <a:solidFill>
                  <a:schemeClr val="bg1"/>
                </a:solidFill>
              </a:rPr>
              <a:t>Location</a:t>
            </a:r>
            <a:endParaRPr lang="en-US" sz="900" dirty="0"/>
          </a:p>
        </p:txBody>
      </p:sp>
      <p:sp>
        <p:nvSpPr>
          <p:cNvPr id="11" name="Text 8"/>
          <p:cNvSpPr txBox="1"/>
          <p:nvPr/>
        </p:nvSpPr>
        <p:spPr>
          <a:xfrm>
            <a:off x="4992624" y="4626864"/>
            <a:ext cx="603504" cy="219456"/>
          </a:xfrm>
          <a:prstGeom prst="roundRect">
            <a:avLst>
              <a:gd name="adj" fmla="val 25000"/>
            </a:avLst>
          </a:prstGeom>
          <a:solidFill>
            <a:schemeClr val="accent1"/>
          </a:solidFill>
          <a:ln/>
        </p:spPr>
        <p:txBody>
          <a:bodyPr wrap="square" lIns="0" tIns="0" rIns="0" bIns="0" rtlCol="0" anchor="ctr"/>
          <a:lstStyle/>
          <a:p>
            <a:pPr marL="0" indent="0" algn="ctr">
              <a:buNone/>
            </a:pPr>
            <a:r>
              <a:rPr lang="en-US" sz="900" b="1" dirty="0">
                <a:solidFill>
                  <a:schemeClr val="bg1"/>
                </a:solidFill>
              </a:rPr>
              <a:t>Time</a:t>
            </a:r>
            <a:endParaRPr lang="en-US" sz="900" dirty="0"/>
          </a:p>
        </p:txBody>
      </p:sp>
      <p:sp>
        <p:nvSpPr>
          <p:cNvPr id="12" name="ask-1"/>
          <p:cNvSpPr/>
          <p:nvPr/>
        </p:nvSpPr>
        <p:spPr>
          <a:xfrm>
            <a:off x="548640" y="5056632"/>
            <a:ext cx="5212080" cy="457200"/>
          </a:xfrm>
          <a:prstGeom prst="roundRect">
            <a:avLst>
              <a:gd name="adj" fmla="val 16000"/>
            </a:avLst>
          </a:prstGeom>
          <a:solidFill>
            <a:schemeClr val="bg2"/>
          </a:solidFill>
          <a:ln w="12700">
            <a:solidFill>
              <a:schemeClr val="bg2"/>
            </a:solidFill>
            <a:prstDash val="solid"/>
          </a:ln>
        </p:spPr>
      </p:sp>
      <p:sp>
        <p:nvSpPr>
          <p:cNvPr id="13" name="Text 10"/>
          <p:cNvSpPr txBox="1"/>
          <p:nvPr/>
        </p:nvSpPr>
        <p:spPr>
          <a:xfrm>
            <a:off x="713232" y="5056632"/>
            <a:ext cx="3017520" cy="457200"/>
          </a:xfrm>
          <a:prstGeom prst="rect">
            <a:avLst/>
          </a:prstGeom>
          <a:noFill/>
          <a:ln/>
        </p:spPr>
        <p:txBody>
          <a:bodyPr wrap="square" lIns="0" tIns="0" rIns="0" bIns="0" rtlCol="0" anchor="ctr"/>
          <a:lstStyle/>
          <a:p>
            <a:pPr marL="0" indent="0">
              <a:buNone/>
            </a:pPr>
            <a:r>
              <a:rPr lang="en-US" sz="1200" b="1" dirty="0">
                <a:solidFill>
                  <a:schemeClr val="tx1"/>
                </a:solidFill>
              </a:rPr>
              <a:t>How did February compare with January?</a:t>
            </a:r>
            <a:endParaRPr lang="en-US" sz="1200" dirty="0"/>
          </a:p>
        </p:txBody>
      </p:sp>
      <p:sp>
        <p:nvSpPr>
          <p:cNvPr id="14" name="Text 11"/>
          <p:cNvSpPr txBox="1"/>
          <p:nvPr/>
        </p:nvSpPr>
        <p:spPr>
          <a:xfrm>
            <a:off x="4992624" y="5175504"/>
            <a:ext cx="603504" cy="219456"/>
          </a:xfrm>
          <a:prstGeom prst="roundRect">
            <a:avLst>
              <a:gd name="adj" fmla="val 25000"/>
            </a:avLst>
          </a:prstGeom>
          <a:solidFill>
            <a:schemeClr val="accent1"/>
          </a:solidFill>
          <a:ln/>
        </p:spPr>
        <p:txBody>
          <a:bodyPr wrap="square" lIns="0" tIns="0" rIns="0" bIns="0" rtlCol="0" anchor="ctr"/>
          <a:lstStyle/>
          <a:p>
            <a:pPr marL="0" indent="0" algn="ctr">
              <a:buNone/>
            </a:pPr>
            <a:r>
              <a:rPr lang="en-US" sz="900" b="1" dirty="0">
                <a:solidFill>
                  <a:schemeClr val="bg1"/>
                </a:solidFill>
              </a:rPr>
              <a:t>Time</a:t>
            </a:r>
            <a:endParaRPr lang="en-US" sz="900" dirty="0"/>
          </a:p>
        </p:txBody>
      </p:sp>
      <p:sp>
        <p:nvSpPr>
          <p:cNvPr id="15" name="ask-2"/>
          <p:cNvSpPr/>
          <p:nvPr/>
        </p:nvSpPr>
        <p:spPr>
          <a:xfrm>
            <a:off x="548640" y="5605272"/>
            <a:ext cx="5212080" cy="457200"/>
          </a:xfrm>
          <a:prstGeom prst="roundRect">
            <a:avLst>
              <a:gd name="adj" fmla="val 16000"/>
            </a:avLst>
          </a:prstGeom>
          <a:solidFill>
            <a:schemeClr val="bg2"/>
          </a:solidFill>
          <a:ln w="12700">
            <a:solidFill>
              <a:schemeClr val="bg2"/>
            </a:solidFill>
            <a:prstDash val="solid"/>
          </a:ln>
        </p:spPr>
      </p:sp>
      <p:sp>
        <p:nvSpPr>
          <p:cNvPr id="16" name="Text 13"/>
          <p:cNvSpPr txBox="1"/>
          <p:nvPr/>
        </p:nvSpPr>
        <p:spPr>
          <a:xfrm>
            <a:off x="713232" y="5605272"/>
            <a:ext cx="3017520" cy="457200"/>
          </a:xfrm>
          <a:prstGeom prst="rect">
            <a:avLst/>
          </a:prstGeom>
          <a:noFill/>
          <a:ln/>
        </p:spPr>
        <p:txBody>
          <a:bodyPr wrap="square" lIns="0" tIns="0" rIns="0" bIns="0" rtlCol="0" anchor="ctr"/>
          <a:lstStyle/>
          <a:p>
            <a:pPr marL="0" indent="0">
              <a:buNone/>
            </a:pPr>
            <a:r>
              <a:rPr lang="en-US" sz="1200" b="1" dirty="0">
                <a:solidFill>
                  <a:schemeClr val="tx1"/>
                </a:solidFill>
              </a:rPr>
              <a:t>Which city generated the highest sales?</a:t>
            </a:r>
            <a:endParaRPr lang="en-US" sz="1200" dirty="0"/>
          </a:p>
        </p:txBody>
      </p:sp>
      <p:sp>
        <p:nvSpPr>
          <p:cNvPr id="17" name="Text 14"/>
          <p:cNvSpPr txBox="1"/>
          <p:nvPr/>
        </p:nvSpPr>
        <p:spPr>
          <a:xfrm>
            <a:off x="4992624" y="5724144"/>
            <a:ext cx="603504" cy="219456"/>
          </a:xfrm>
          <a:prstGeom prst="roundRect">
            <a:avLst>
              <a:gd name="adj" fmla="val 25000"/>
            </a:avLst>
          </a:prstGeom>
          <a:solidFill>
            <a:schemeClr val="accent3"/>
          </a:solidFill>
          <a:ln/>
        </p:spPr>
        <p:txBody>
          <a:bodyPr wrap="square" lIns="0" tIns="0" rIns="0" bIns="0" rtlCol="0" anchor="ctr"/>
          <a:lstStyle/>
          <a:p>
            <a:pPr marL="0" indent="0" algn="ctr">
              <a:buNone/>
            </a:pPr>
            <a:r>
              <a:rPr lang="en-US" sz="900" b="1" dirty="0">
                <a:solidFill>
                  <a:schemeClr val="bg1"/>
                </a:solidFill>
              </a:rPr>
              <a:t>Location</a:t>
            </a:r>
            <a:endParaRPr lang="en-US" sz="900" dirty="0"/>
          </a:p>
        </p:txBody>
      </p:sp>
      <p:sp>
        <p:nvSpPr>
          <p:cNvPr id="18" name="olap-definition"/>
          <p:cNvSpPr/>
          <p:nvPr/>
        </p:nvSpPr>
        <p:spPr>
          <a:xfrm>
            <a:off x="6309360" y="1874520"/>
            <a:ext cx="5330952" cy="1188720"/>
          </a:xfrm>
          <a:prstGeom prst="roundRect">
            <a:avLst>
              <a:gd name="adj" fmla="val 6154"/>
            </a:avLst>
          </a:prstGeom>
          <a:solidFill>
            <a:schemeClr val="tx1"/>
          </a:solidFill>
          <a:ln w="12700">
            <a:solidFill>
              <a:schemeClr val="tx1"/>
            </a:solidFill>
            <a:prstDash val="solid"/>
          </a:ln>
        </p:spPr>
      </p:sp>
      <p:sp>
        <p:nvSpPr>
          <p:cNvPr id="19" name="Text 16"/>
          <p:cNvSpPr txBox="1"/>
          <p:nvPr/>
        </p:nvSpPr>
        <p:spPr>
          <a:xfrm>
            <a:off x="6537960" y="2011680"/>
            <a:ext cx="4846320" cy="365760"/>
          </a:xfrm>
          <a:prstGeom prst="rect">
            <a:avLst/>
          </a:prstGeom>
          <a:noFill/>
          <a:ln/>
        </p:spPr>
        <p:txBody>
          <a:bodyPr wrap="square" lIns="0" tIns="0" rIns="0" bIns="0" rtlCol="0" anchor="ctr"/>
          <a:lstStyle/>
          <a:p>
            <a:pPr marL="0" indent="0">
              <a:buNone/>
            </a:pPr>
            <a:r>
              <a:rPr lang="en-US" sz="2000" b="1" dirty="0">
                <a:solidFill>
                  <a:schemeClr val="bg1"/>
                </a:solidFill>
              </a:rPr>
              <a:t>OLAP</a:t>
            </a:r>
            <a:r>
              <a:rPr lang="en-US" sz="1400" dirty="0">
                <a:solidFill>
                  <a:schemeClr val="accent5"/>
                </a:solidFill>
              </a:rPr>
              <a:t>  Online Analytical Processing</a:t>
            </a:r>
            <a:endParaRPr lang="en-US" sz="2000" dirty="0"/>
          </a:p>
        </p:txBody>
      </p:sp>
      <p:sp>
        <p:nvSpPr>
          <p:cNvPr id="20" name="Text 17"/>
          <p:cNvSpPr txBox="1"/>
          <p:nvPr/>
        </p:nvSpPr>
        <p:spPr>
          <a:xfrm>
            <a:off x="6537960" y="2404872"/>
            <a:ext cx="4892040" cy="548640"/>
          </a:xfrm>
          <a:prstGeom prst="rect">
            <a:avLst/>
          </a:prstGeom>
          <a:noFill/>
          <a:ln/>
        </p:spPr>
        <p:txBody>
          <a:bodyPr wrap="square" lIns="0" tIns="0" rIns="0" bIns="0" rtlCol="0" anchor="t"/>
          <a:lstStyle/>
          <a:p>
            <a:pPr marL="0" indent="0">
              <a:buNone/>
            </a:pPr>
            <a:r>
              <a:rPr lang="en-US" sz="1300" dirty="0">
                <a:solidFill>
                  <a:schemeClr val="bg1"/>
                </a:solidFill>
              </a:rPr>
              <a:t>Interactive analysis of summarised, historical data along several dimensions at once. Built for questions, not for transactions.</a:t>
            </a:r>
            <a:endParaRPr lang="en-US" sz="1300" dirty="0"/>
          </a:p>
        </p:txBody>
      </p:sp>
      <p:graphicFrame>
        <p:nvGraphicFramePr>
          <p:cNvPr id="5" name="oltp-vs-olap"/>
          <p:cNvGraphicFramePr>
            <a:graphicFrameLocks noGrp="1"/>
          </p:cNvGraphicFramePr>
          <p:nvPr>
            <p:extLst>
              <p:ext uri="{D42A27DB-BD31-4B8C-83A1-F6EECF244321}">
                <p14:modId xmlns:p14="http://schemas.microsoft.com/office/powerpoint/2010/main" val="1579011935"/>
              </p:ext>
            </p:extLst>
          </p:nvPr>
        </p:nvGraphicFramePr>
        <p:xfrm>
          <a:off x="6309360" y="3291840"/>
          <a:ext cx="5330952" cy="2688336"/>
        </p:xfrm>
        <a:graphic>
          <a:graphicData uri="http://schemas.openxmlformats.org/drawingml/2006/table">
            <a:tbl>
              <a:tblPr/>
              <a:tblGrid>
                <a:gridCol w="121615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48056">
                <a:tc>
                  <a:txBody>
                    <a:bodyPr/>
                    <a:lstStyle/>
                    <a:p>
                      <a:pPr marL="0" indent="0">
                        <a:buNone/>
                      </a:pP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buNone/>
                      </a:pPr>
                      <a:r>
                        <a:rPr lang="en-US" sz="1200" b="1" dirty="0">
                          <a:solidFill>
                            <a:schemeClr val="bg1"/>
                          </a:solidFill>
                        </a:rPr>
                        <a:t>OLTP: runs the business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6"/>
                    </a:solidFill>
                  </a:tcPr>
                </a:tc>
                <a:tc>
                  <a:txBody>
                    <a:bodyPr/>
                    <a:lstStyle/>
                    <a:p>
                      <a:pPr marL="0" indent="0">
                        <a:buNone/>
                      </a:pPr>
                      <a:r>
                        <a:rPr lang="en-US" sz="1200" b="1" dirty="0">
                          <a:solidFill>
                            <a:schemeClr val="bg1"/>
                          </a:solidFill>
                        </a:rPr>
                        <a:t>OLAP: analyses the business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48056">
                <a:tc>
                  <a:txBody>
                    <a:bodyPr/>
                    <a:lstStyle/>
                    <a:p>
                      <a:pPr marL="0" indent="0">
                        <a:buNone/>
                      </a:pPr>
                      <a:r>
                        <a:rPr lang="en-US" sz="1200" b="1" dirty="0">
                          <a:solidFill>
                            <a:schemeClr val="accent4"/>
                          </a:solidFill>
                        </a:rPr>
                        <a:t>Typical work</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dirty="0">
                          <a:solidFill>
                            <a:schemeClr val="tx1"/>
                          </a:solidFill>
                        </a:rPr>
                        <a:t>Insert or update one order</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b="1" dirty="0">
                          <a:solidFill>
                            <a:schemeClr val="tx1"/>
                          </a:solidFill>
                        </a:rPr>
                        <a:t>Aggregate millions of rows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48056">
                <a:tc>
                  <a:txBody>
                    <a:bodyPr/>
                    <a:lstStyle/>
                    <a:p>
                      <a:pPr marL="0" indent="0">
                        <a:buNone/>
                      </a:pPr>
                      <a:r>
                        <a:rPr lang="en-US" sz="1200" b="1" dirty="0">
                          <a:solidFill>
                            <a:schemeClr val="accent4"/>
                          </a:solidFill>
                        </a:rPr>
                        <a:t>Data</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dirty="0">
                          <a:solidFill>
                            <a:schemeClr val="tx1"/>
                          </a:solidFill>
                        </a:rPr>
                        <a:t>Current, detailed</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b="1" dirty="0">
                          <a:solidFill>
                            <a:schemeClr val="tx1"/>
                          </a:solidFill>
                        </a:rPr>
                        <a:t>Historical, summarised</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48056">
                <a:tc>
                  <a:txBody>
                    <a:bodyPr/>
                    <a:lstStyle/>
                    <a:p>
                      <a:pPr marL="0" indent="0">
                        <a:buNone/>
                      </a:pPr>
                      <a:r>
                        <a:rPr lang="en-US" sz="1200" b="1" dirty="0">
                          <a:solidFill>
                            <a:schemeClr val="accent4"/>
                          </a:solidFill>
                        </a:rPr>
                        <a:t>Design</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dirty="0">
                          <a:solidFill>
                            <a:schemeClr val="tx1"/>
                          </a:solidFill>
                        </a:rPr>
                        <a:t>Normalised ER tables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b="1" dirty="0">
                          <a:solidFill>
                            <a:schemeClr val="tx1"/>
                          </a:solidFill>
                        </a:rPr>
                        <a:t>Star / snowflake schema</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48056">
                <a:tc>
                  <a:txBody>
                    <a:bodyPr/>
                    <a:lstStyle/>
                    <a:p>
                      <a:pPr marL="0" indent="0">
                        <a:buNone/>
                      </a:pPr>
                      <a:r>
                        <a:rPr lang="en-US" sz="1200" b="1" dirty="0">
                          <a:solidFill>
                            <a:schemeClr val="accent4"/>
                          </a:solidFill>
                        </a:rPr>
                        <a:t>Users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dirty="0">
                          <a:solidFill>
                            <a:schemeClr val="tx1"/>
                          </a:solidFill>
                        </a:rPr>
                        <a:t>Clerks, apps, customers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b="1" dirty="0">
                          <a:solidFill>
                            <a:schemeClr val="tx1"/>
                          </a:solidFill>
                        </a:rPr>
                        <a:t>Analysts, managers</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48056">
                <a:tc>
                  <a:txBody>
                    <a:bodyPr/>
                    <a:lstStyle/>
                    <a:p>
                      <a:pPr marL="0" indent="0">
                        <a:buNone/>
                      </a:pPr>
                      <a:r>
                        <a:rPr lang="en-US" sz="1200" b="1" dirty="0">
                          <a:solidFill>
                            <a:schemeClr val="accent4"/>
                          </a:solidFill>
                        </a:rPr>
                        <a:t>Measured by</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dirty="0">
                          <a:solidFill>
                            <a:schemeClr val="tx1"/>
                          </a:solidFill>
                        </a:rPr>
                        <a:t>Transactions per second</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200" b="1" dirty="0">
                          <a:solidFill>
                            <a:schemeClr val="tx1"/>
                          </a:solidFill>
                        </a:rPr>
                        <a:t>Query response time</a:t>
                      </a:r>
                      <a:endParaRPr lang="en-US" sz="1200" dirty="0"/>
                    </a:p>
                  </a:txBody>
                  <a:tcPr marT="0" marB="0"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411480"/>
            <a:ext cx="8229600" cy="274320"/>
          </a:xfrm>
          <a:prstGeom prst="rect">
            <a:avLst/>
          </a:prstGeom>
          <a:noFill/>
          <a:ln/>
        </p:spPr>
        <p:txBody>
          <a:bodyPr wrap="square" lIns="0" tIns="0" rIns="0" bIns="0" rtlCol="0"/>
          <a:lstStyle/>
          <a:p>
            <a:pPr marL="0" indent="0">
              <a:buNone/>
            </a:pPr>
            <a:r>
              <a:rPr lang="en-US" sz="1200" b="1" kern="0" spc="300" dirty="0">
                <a:solidFill>
                  <a:schemeClr val="accent3"/>
                </a:solidFill>
              </a:rPr>
              <a:t>02  ·  THE MODEL</a:t>
            </a:r>
            <a:endParaRPr lang="en-US" sz="1200" dirty="0"/>
          </a:p>
        </p:txBody>
      </p:sp>
      <p:sp>
        <p:nvSpPr>
          <p:cNvPr id="3" name="Text 1"/>
          <p:cNvSpPr>
            <a:spLocks noGrp="1"/>
          </p:cNvSpPr>
          <p:nvPr>
            <p:ph type="title" idx="104" hasCustomPrompt="1"/>
          </p:nvPr>
        </p:nvSpPr>
        <p:spPr>
          <a:xfrm>
            <a:off x="548640" y="749808"/>
            <a:ext cx="9509760" cy="960120"/>
          </a:xfrm>
          <a:prstGeom prst="rect">
            <a:avLst/>
          </a:prstGeom>
          <a:noFill/>
          <a:ln/>
        </p:spPr>
        <p:txBody>
          <a:bodyPr wrap="square" lIns="0" tIns="0" rIns="0" bIns="0" rtlCol="0" anchor="t"/>
          <a:lstStyle/>
          <a:p>
            <a:pPr marL="0" indent="0" algn="l">
              <a:buNone/>
            </a:pPr>
            <a:r>
              <a:rPr lang="en-US" sz="3000" b="1" dirty="0">
                <a:solidFill>
                  <a:schemeClr val="tx1"/>
                </a:solidFill>
              </a:rPr>
              <a:t>A data cube stores one measure at every combination of dimensions</a:t>
            </a:r>
            <a:endParaRPr lang="en-US" sz="3000" dirty="0"/>
          </a:p>
        </p:txBody>
      </p:sp>
      <p:sp>
        <p:nvSpPr>
          <p:cNvPr id="4" name="sales-top-000"/>
          <p:cNvSpPr/>
          <p:nvPr/>
        </p:nvSpPr>
        <p:spPr>
          <a:xfrm>
            <a:off x="2891699" y="210312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5" name="sales-top-010"/>
          <p:cNvSpPr/>
          <p:nvPr/>
        </p:nvSpPr>
        <p:spPr>
          <a:xfrm>
            <a:off x="2337389" y="242316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6" name="sales-top-020"/>
          <p:cNvSpPr/>
          <p:nvPr/>
        </p:nvSpPr>
        <p:spPr>
          <a:xfrm>
            <a:off x="1783080" y="274320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7" name="sales-top-100"/>
          <p:cNvSpPr/>
          <p:nvPr/>
        </p:nvSpPr>
        <p:spPr>
          <a:xfrm>
            <a:off x="3446008" y="242316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8" name="sales-top-110"/>
          <p:cNvSpPr/>
          <p:nvPr/>
        </p:nvSpPr>
        <p:spPr>
          <a:xfrm>
            <a:off x="2891699" y="274320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9" name="sales-top-120"/>
          <p:cNvSpPr/>
          <p:nvPr/>
        </p:nvSpPr>
        <p:spPr>
          <a:xfrm>
            <a:off x="2337389" y="306324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10" name="sales-top-200"/>
          <p:cNvSpPr/>
          <p:nvPr/>
        </p:nvSpPr>
        <p:spPr>
          <a:xfrm>
            <a:off x="4000317" y="274320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11" name="sales-top-210"/>
          <p:cNvSpPr/>
          <p:nvPr/>
        </p:nvSpPr>
        <p:spPr>
          <a:xfrm>
            <a:off x="3446008" y="306324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12" name="sales-top-220"/>
          <p:cNvSpPr/>
          <p:nvPr/>
        </p:nvSpPr>
        <p:spPr>
          <a:xfrm>
            <a:off x="2891699" y="3383280"/>
            <a:ext cx="1108619" cy="640080"/>
          </a:xfrm>
          <a:custGeom>
            <a:avLst/>
            <a:gdLst/>
            <a:ahLst/>
            <a:cxnLst/>
            <a:rect l="l" t="t" r="r" b="b"/>
            <a:pathLst>
              <a:path w="1108619" h="640080">
                <a:moveTo>
                  <a:pt x="554309" y="0"/>
                </a:moveTo>
                <a:lnTo>
                  <a:pt x="1108619" y="320040"/>
                </a:lnTo>
                <a:lnTo>
                  <a:pt x="554309" y="640080"/>
                </a:lnTo>
                <a:lnTo>
                  <a:pt x="0" y="320040"/>
                </a:lnTo>
                <a:close/>
              </a:path>
            </a:pathLst>
          </a:custGeom>
          <a:solidFill>
            <a:schemeClr val="accent1">
              <a:alpha val="14000"/>
            </a:schemeClr>
          </a:solidFill>
          <a:ln w="19050">
            <a:solidFill>
              <a:schemeClr val="bg1"/>
            </a:solidFill>
            <a:prstDash val="solid"/>
          </a:ln>
        </p:spPr>
      </p:sp>
      <p:sp>
        <p:nvSpPr>
          <p:cNvPr id="13" name="sales-left-020"/>
          <p:cNvSpPr/>
          <p:nvPr/>
        </p:nvSpPr>
        <p:spPr>
          <a:xfrm>
            <a:off x="1783080" y="3063240"/>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4" name="sales-left-021"/>
          <p:cNvSpPr/>
          <p:nvPr/>
        </p:nvSpPr>
        <p:spPr>
          <a:xfrm>
            <a:off x="1783080" y="3593592"/>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5" name="sales-left-022"/>
          <p:cNvSpPr/>
          <p:nvPr/>
        </p:nvSpPr>
        <p:spPr>
          <a:xfrm>
            <a:off x="1783080" y="4123944"/>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6" name="sales-left-120"/>
          <p:cNvSpPr/>
          <p:nvPr/>
        </p:nvSpPr>
        <p:spPr>
          <a:xfrm>
            <a:off x="2337389" y="3383280"/>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7" name="sales-left-121"/>
          <p:cNvSpPr/>
          <p:nvPr/>
        </p:nvSpPr>
        <p:spPr>
          <a:xfrm>
            <a:off x="2337389" y="3913632"/>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8" name="sales-left-122"/>
          <p:cNvSpPr/>
          <p:nvPr/>
        </p:nvSpPr>
        <p:spPr>
          <a:xfrm>
            <a:off x="2337389" y="4443984"/>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19" name="sales-left-220"/>
          <p:cNvSpPr/>
          <p:nvPr/>
        </p:nvSpPr>
        <p:spPr>
          <a:xfrm>
            <a:off x="2891699" y="3703320"/>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20" name="sales-left-221"/>
          <p:cNvSpPr/>
          <p:nvPr/>
        </p:nvSpPr>
        <p:spPr>
          <a:xfrm>
            <a:off x="2891699" y="4233672"/>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3">
              <a:alpha val="88000"/>
            </a:schemeClr>
          </a:solidFill>
          <a:ln w="19050">
            <a:solidFill>
              <a:schemeClr val="bg1"/>
            </a:solidFill>
            <a:prstDash val="solid"/>
          </a:ln>
        </p:spPr>
      </p:sp>
      <p:sp>
        <p:nvSpPr>
          <p:cNvPr id="21" name="sales-left-222"/>
          <p:cNvSpPr/>
          <p:nvPr/>
        </p:nvSpPr>
        <p:spPr>
          <a:xfrm>
            <a:off x="2891699" y="4764024"/>
            <a:ext cx="554309" cy="850392"/>
          </a:xfrm>
          <a:custGeom>
            <a:avLst/>
            <a:gdLst/>
            <a:ahLst/>
            <a:cxnLst/>
            <a:rect l="l" t="t" r="r" b="b"/>
            <a:pathLst>
              <a:path w="554309" h="850392">
                <a:moveTo>
                  <a:pt x="0" y="0"/>
                </a:moveTo>
                <a:lnTo>
                  <a:pt x="554309" y="320040"/>
                </a:lnTo>
                <a:lnTo>
                  <a:pt x="554309" y="850392"/>
                </a:lnTo>
                <a:lnTo>
                  <a:pt x="0" y="530352"/>
                </a:lnTo>
                <a:close/>
              </a:path>
            </a:pathLst>
          </a:custGeom>
          <a:solidFill>
            <a:schemeClr val="accent1">
              <a:alpha val="28000"/>
            </a:schemeClr>
          </a:solidFill>
          <a:ln w="19050">
            <a:solidFill>
              <a:schemeClr val="bg1"/>
            </a:solidFill>
            <a:prstDash val="solid"/>
          </a:ln>
        </p:spPr>
      </p:sp>
      <p:sp>
        <p:nvSpPr>
          <p:cNvPr id="22" name="sales-right-200"/>
          <p:cNvSpPr/>
          <p:nvPr/>
        </p:nvSpPr>
        <p:spPr>
          <a:xfrm>
            <a:off x="4554626" y="3063240"/>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3" name="sales-right-201"/>
          <p:cNvSpPr/>
          <p:nvPr/>
        </p:nvSpPr>
        <p:spPr>
          <a:xfrm>
            <a:off x="4554626" y="3593592"/>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4" name="sales-right-202"/>
          <p:cNvSpPr/>
          <p:nvPr/>
        </p:nvSpPr>
        <p:spPr>
          <a:xfrm>
            <a:off x="4554626" y="4123944"/>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5" name="sales-right-210"/>
          <p:cNvSpPr/>
          <p:nvPr/>
        </p:nvSpPr>
        <p:spPr>
          <a:xfrm>
            <a:off x="4000317" y="3383280"/>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6" name="sales-right-211"/>
          <p:cNvSpPr/>
          <p:nvPr/>
        </p:nvSpPr>
        <p:spPr>
          <a:xfrm>
            <a:off x="4000317" y="3913632"/>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7" name="sales-right-212"/>
          <p:cNvSpPr/>
          <p:nvPr/>
        </p:nvSpPr>
        <p:spPr>
          <a:xfrm>
            <a:off x="4000317" y="4443984"/>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8" name="sales-right-220"/>
          <p:cNvSpPr/>
          <p:nvPr/>
        </p:nvSpPr>
        <p:spPr>
          <a:xfrm>
            <a:off x="3446008" y="3703320"/>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29" name="sales-right-221"/>
          <p:cNvSpPr/>
          <p:nvPr/>
        </p:nvSpPr>
        <p:spPr>
          <a:xfrm>
            <a:off x="3446008" y="4233672"/>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3"/>
          </a:solidFill>
          <a:ln w="19050">
            <a:solidFill>
              <a:schemeClr val="bg1"/>
            </a:solidFill>
            <a:prstDash val="solid"/>
          </a:ln>
        </p:spPr>
      </p:sp>
      <p:sp>
        <p:nvSpPr>
          <p:cNvPr id="30" name="sales-right-222"/>
          <p:cNvSpPr/>
          <p:nvPr/>
        </p:nvSpPr>
        <p:spPr>
          <a:xfrm>
            <a:off x="3446008" y="4764024"/>
            <a:ext cx="554309" cy="850392"/>
          </a:xfrm>
          <a:custGeom>
            <a:avLst/>
            <a:gdLst/>
            <a:ahLst/>
            <a:cxnLst/>
            <a:rect l="l" t="t" r="r" b="b"/>
            <a:pathLst>
              <a:path w="554309" h="850392">
                <a:moveTo>
                  <a:pt x="554309" y="0"/>
                </a:moveTo>
                <a:lnTo>
                  <a:pt x="0" y="320040"/>
                </a:lnTo>
                <a:lnTo>
                  <a:pt x="0" y="850392"/>
                </a:lnTo>
                <a:lnTo>
                  <a:pt x="554309" y="530352"/>
                </a:lnTo>
                <a:close/>
              </a:path>
            </a:pathLst>
          </a:custGeom>
          <a:solidFill>
            <a:schemeClr val="accent1">
              <a:alpha val="44000"/>
            </a:schemeClr>
          </a:solidFill>
          <a:ln w="19050">
            <a:solidFill>
              <a:schemeClr val="bg1"/>
            </a:solidFill>
            <a:prstDash val="solid"/>
          </a:ln>
        </p:spPr>
      </p:sp>
      <p:sp>
        <p:nvSpPr>
          <p:cNvPr id="31" name="Text 29"/>
          <p:cNvSpPr txBox="1"/>
          <p:nvPr/>
        </p:nvSpPr>
        <p:spPr>
          <a:xfrm>
            <a:off x="3171688" y="228600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32" name="Text 30"/>
          <p:cNvSpPr txBox="1"/>
          <p:nvPr/>
        </p:nvSpPr>
        <p:spPr>
          <a:xfrm>
            <a:off x="2617379" y="260604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33" name="Text 31"/>
          <p:cNvSpPr txBox="1"/>
          <p:nvPr/>
        </p:nvSpPr>
        <p:spPr>
          <a:xfrm>
            <a:off x="2063069" y="292608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34" name="Text 32"/>
          <p:cNvSpPr txBox="1"/>
          <p:nvPr/>
        </p:nvSpPr>
        <p:spPr>
          <a:xfrm>
            <a:off x="3725997" y="260604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35" name="Text 33"/>
          <p:cNvSpPr txBox="1"/>
          <p:nvPr/>
        </p:nvSpPr>
        <p:spPr>
          <a:xfrm>
            <a:off x="3171688" y="292608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7</a:t>
            </a:r>
            <a:endParaRPr lang="en-US" sz="1300" dirty="0"/>
          </a:p>
        </p:txBody>
      </p:sp>
      <p:sp>
        <p:nvSpPr>
          <p:cNvPr id="36" name="Text 34"/>
          <p:cNvSpPr txBox="1"/>
          <p:nvPr/>
        </p:nvSpPr>
        <p:spPr>
          <a:xfrm>
            <a:off x="2617379" y="324612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6</a:t>
            </a:r>
            <a:endParaRPr lang="en-US" sz="1300" dirty="0"/>
          </a:p>
        </p:txBody>
      </p:sp>
      <p:sp>
        <p:nvSpPr>
          <p:cNvPr id="37" name="Text 35"/>
          <p:cNvSpPr txBox="1"/>
          <p:nvPr/>
        </p:nvSpPr>
        <p:spPr>
          <a:xfrm>
            <a:off x="4280306" y="292608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38" name="Text 36"/>
          <p:cNvSpPr txBox="1"/>
          <p:nvPr/>
        </p:nvSpPr>
        <p:spPr>
          <a:xfrm>
            <a:off x="3725997" y="324612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39" name="Text 37"/>
          <p:cNvSpPr txBox="1"/>
          <p:nvPr/>
        </p:nvSpPr>
        <p:spPr>
          <a:xfrm>
            <a:off x="3171688" y="356616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8</a:t>
            </a:r>
            <a:endParaRPr lang="en-US" sz="1300" dirty="0"/>
          </a:p>
        </p:txBody>
      </p:sp>
      <p:sp>
        <p:nvSpPr>
          <p:cNvPr id="40" name="Text 38"/>
          <p:cNvSpPr txBox="1"/>
          <p:nvPr/>
        </p:nvSpPr>
        <p:spPr>
          <a:xfrm>
            <a:off x="1785915" y="335127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41" name="Text 39"/>
          <p:cNvSpPr txBox="1"/>
          <p:nvPr/>
        </p:nvSpPr>
        <p:spPr>
          <a:xfrm>
            <a:off x="1785915" y="3881628"/>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6</a:t>
            </a:r>
            <a:endParaRPr lang="en-US" sz="1300" dirty="0"/>
          </a:p>
        </p:txBody>
      </p:sp>
      <p:sp>
        <p:nvSpPr>
          <p:cNvPr id="42" name="Text 40"/>
          <p:cNvSpPr txBox="1"/>
          <p:nvPr/>
        </p:nvSpPr>
        <p:spPr>
          <a:xfrm>
            <a:off x="1785915" y="441198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7</a:t>
            </a:r>
            <a:endParaRPr lang="en-US" sz="1300" dirty="0"/>
          </a:p>
        </p:txBody>
      </p:sp>
      <p:sp>
        <p:nvSpPr>
          <p:cNvPr id="43" name="Text 41"/>
          <p:cNvSpPr txBox="1"/>
          <p:nvPr/>
        </p:nvSpPr>
        <p:spPr>
          <a:xfrm>
            <a:off x="2340224" y="367131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6</a:t>
            </a:r>
            <a:endParaRPr lang="en-US" sz="1300" dirty="0"/>
          </a:p>
        </p:txBody>
      </p:sp>
      <p:sp>
        <p:nvSpPr>
          <p:cNvPr id="44" name="Text 42"/>
          <p:cNvSpPr txBox="1"/>
          <p:nvPr/>
        </p:nvSpPr>
        <p:spPr>
          <a:xfrm>
            <a:off x="2340224" y="4201668"/>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9</a:t>
            </a:r>
            <a:endParaRPr lang="en-US" sz="1300" dirty="0"/>
          </a:p>
        </p:txBody>
      </p:sp>
      <p:sp>
        <p:nvSpPr>
          <p:cNvPr id="45" name="Text 43"/>
          <p:cNvSpPr txBox="1"/>
          <p:nvPr/>
        </p:nvSpPr>
        <p:spPr>
          <a:xfrm>
            <a:off x="2340224" y="473202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8</a:t>
            </a:r>
            <a:endParaRPr lang="en-US" sz="1300" dirty="0"/>
          </a:p>
        </p:txBody>
      </p:sp>
      <p:sp>
        <p:nvSpPr>
          <p:cNvPr id="46" name="Text 44"/>
          <p:cNvSpPr txBox="1"/>
          <p:nvPr/>
        </p:nvSpPr>
        <p:spPr>
          <a:xfrm>
            <a:off x="2894533" y="399135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8</a:t>
            </a:r>
            <a:endParaRPr lang="en-US" sz="1300" dirty="0"/>
          </a:p>
        </p:txBody>
      </p:sp>
      <p:sp>
        <p:nvSpPr>
          <p:cNvPr id="47" name="Text 45"/>
          <p:cNvSpPr txBox="1"/>
          <p:nvPr/>
        </p:nvSpPr>
        <p:spPr>
          <a:xfrm>
            <a:off x="2894533" y="4521708"/>
            <a:ext cx="548640" cy="274320"/>
          </a:xfrm>
          <a:prstGeom prst="rect">
            <a:avLst/>
          </a:prstGeom>
          <a:noFill/>
          <a:ln/>
        </p:spPr>
        <p:txBody>
          <a:bodyPr wrap="square" lIns="0" tIns="0" rIns="0" bIns="0" rtlCol="0" anchor="ctr"/>
          <a:lstStyle/>
          <a:p>
            <a:pPr marL="0" indent="0" algn="ctr">
              <a:buNone/>
            </a:pPr>
            <a:r>
              <a:rPr lang="en-US" sz="1300" b="1" dirty="0">
                <a:solidFill>
                  <a:schemeClr val="bg1"/>
                </a:solidFill>
              </a:rPr>
              <a:t>9</a:t>
            </a:r>
            <a:endParaRPr lang="en-US" sz="1300" dirty="0"/>
          </a:p>
        </p:txBody>
      </p:sp>
      <p:sp>
        <p:nvSpPr>
          <p:cNvPr id="48" name="Text 46"/>
          <p:cNvSpPr txBox="1"/>
          <p:nvPr/>
        </p:nvSpPr>
        <p:spPr>
          <a:xfrm>
            <a:off x="2894533" y="505206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10</a:t>
            </a:r>
            <a:endParaRPr lang="en-US" sz="1300" dirty="0"/>
          </a:p>
        </p:txBody>
      </p:sp>
      <p:sp>
        <p:nvSpPr>
          <p:cNvPr id="49" name="Text 47"/>
          <p:cNvSpPr txBox="1"/>
          <p:nvPr/>
        </p:nvSpPr>
        <p:spPr>
          <a:xfrm>
            <a:off x="4557461" y="335127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50" name="Text 48"/>
          <p:cNvSpPr txBox="1"/>
          <p:nvPr/>
        </p:nvSpPr>
        <p:spPr>
          <a:xfrm>
            <a:off x="4557461" y="3881628"/>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51" name="Text 49"/>
          <p:cNvSpPr txBox="1"/>
          <p:nvPr/>
        </p:nvSpPr>
        <p:spPr>
          <a:xfrm>
            <a:off x="4557461" y="441198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52" name="Text 50"/>
          <p:cNvSpPr txBox="1"/>
          <p:nvPr/>
        </p:nvSpPr>
        <p:spPr>
          <a:xfrm>
            <a:off x="4003152" y="367131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53" name="Text 51"/>
          <p:cNvSpPr txBox="1"/>
          <p:nvPr/>
        </p:nvSpPr>
        <p:spPr>
          <a:xfrm>
            <a:off x="4003152" y="4201668"/>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6</a:t>
            </a:r>
            <a:endParaRPr lang="en-US" sz="1300" dirty="0"/>
          </a:p>
        </p:txBody>
      </p:sp>
      <p:sp>
        <p:nvSpPr>
          <p:cNvPr id="54" name="Text 52"/>
          <p:cNvSpPr txBox="1"/>
          <p:nvPr/>
        </p:nvSpPr>
        <p:spPr>
          <a:xfrm>
            <a:off x="4003152" y="473202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7</a:t>
            </a:r>
            <a:endParaRPr lang="en-US" sz="1300" dirty="0"/>
          </a:p>
        </p:txBody>
      </p:sp>
      <p:sp>
        <p:nvSpPr>
          <p:cNvPr id="55" name="Text 53"/>
          <p:cNvSpPr txBox="1"/>
          <p:nvPr/>
        </p:nvSpPr>
        <p:spPr>
          <a:xfrm>
            <a:off x="3448842" y="3991356"/>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8</a:t>
            </a:r>
            <a:endParaRPr lang="en-US" sz="1300" dirty="0"/>
          </a:p>
        </p:txBody>
      </p:sp>
      <p:sp>
        <p:nvSpPr>
          <p:cNvPr id="56" name="Text 54"/>
          <p:cNvSpPr txBox="1"/>
          <p:nvPr/>
        </p:nvSpPr>
        <p:spPr>
          <a:xfrm>
            <a:off x="3448842" y="4521708"/>
            <a:ext cx="548640" cy="274320"/>
          </a:xfrm>
          <a:prstGeom prst="rect">
            <a:avLst/>
          </a:prstGeom>
          <a:noFill/>
          <a:ln/>
        </p:spPr>
        <p:txBody>
          <a:bodyPr wrap="square" lIns="0" tIns="0" rIns="0" bIns="0" rtlCol="0" anchor="ctr"/>
          <a:lstStyle/>
          <a:p>
            <a:pPr marL="0" indent="0" algn="ctr">
              <a:buNone/>
            </a:pPr>
            <a:r>
              <a:rPr lang="en-US" sz="1300" b="1" dirty="0">
                <a:solidFill>
                  <a:schemeClr val="bg1"/>
                </a:solidFill>
              </a:rPr>
              <a:t>9</a:t>
            </a:r>
            <a:endParaRPr lang="en-US" sz="1300" dirty="0"/>
          </a:p>
        </p:txBody>
      </p:sp>
      <p:sp>
        <p:nvSpPr>
          <p:cNvPr id="57" name="Text 55"/>
          <p:cNvSpPr txBox="1"/>
          <p:nvPr/>
        </p:nvSpPr>
        <p:spPr>
          <a:xfrm>
            <a:off x="3448842" y="5052060"/>
            <a:ext cx="548640" cy="274320"/>
          </a:xfrm>
          <a:prstGeom prst="rect">
            <a:avLst/>
          </a:prstGeom>
          <a:noFill/>
          <a:ln/>
        </p:spPr>
        <p:txBody>
          <a:bodyPr wrap="square" lIns="0" tIns="0" rIns="0" bIns="0" rtlCol="0" anchor="ctr"/>
          <a:lstStyle/>
          <a:p>
            <a:pPr marL="0" indent="0" algn="ctr">
              <a:buNone/>
            </a:pPr>
            <a:r>
              <a:rPr lang="en-US" sz="1300" b="1" dirty="0">
                <a:solidFill>
                  <a:schemeClr val="tx1"/>
                </a:solidFill>
              </a:rPr>
              <a:t>10</a:t>
            </a:r>
            <a:endParaRPr lang="en-US" sz="1300" dirty="0"/>
          </a:p>
        </p:txBody>
      </p:sp>
      <p:sp>
        <p:nvSpPr>
          <p:cNvPr id="58" name="Text 56"/>
          <p:cNvSpPr txBox="1"/>
          <p:nvPr/>
        </p:nvSpPr>
        <p:spPr>
          <a:xfrm>
            <a:off x="3832890" y="1933956"/>
            <a:ext cx="1097280" cy="256032"/>
          </a:xfrm>
          <a:prstGeom prst="rect">
            <a:avLst/>
          </a:prstGeom>
          <a:noFill/>
          <a:ln/>
        </p:spPr>
        <p:txBody>
          <a:bodyPr wrap="square" lIns="0" tIns="0" rIns="0" bIns="0" rtlCol="0" anchor="ctr"/>
          <a:lstStyle/>
          <a:p>
            <a:pPr marL="0" indent="0">
              <a:buNone/>
            </a:pPr>
            <a:r>
              <a:rPr lang="en-US" sz="1200" b="1" dirty="0">
                <a:solidFill>
                  <a:schemeClr val="tx1"/>
                </a:solidFill>
              </a:rPr>
              <a:t>Hyderabad</a:t>
            </a:r>
            <a:endParaRPr lang="en-US" sz="1200" dirty="0"/>
          </a:p>
        </p:txBody>
      </p:sp>
      <p:sp>
        <p:nvSpPr>
          <p:cNvPr id="59" name="Text 57"/>
          <p:cNvSpPr txBox="1"/>
          <p:nvPr/>
        </p:nvSpPr>
        <p:spPr>
          <a:xfrm>
            <a:off x="4387200" y="2253996"/>
            <a:ext cx="1097280" cy="256032"/>
          </a:xfrm>
          <a:prstGeom prst="rect">
            <a:avLst/>
          </a:prstGeom>
          <a:noFill/>
          <a:ln/>
        </p:spPr>
        <p:txBody>
          <a:bodyPr wrap="square" lIns="0" tIns="0" rIns="0" bIns="0" rtlCol="0" anchor="ctr"/>
          <a:lstStyle/>
          <a:p>
            <a:pPr marL="0" indent="0">
              <a:buNone/>
            </a:pPr>
            <a:r>
              <a:rPr lang="en-US" sz="1200" b="1" dirty="0">
                <a:solidFill>
                  <a:schemeClr val="tx1"/>
                </a:solidFill>
              </a:rPr>
              <a:t>Bangalore</a:t>
            </a:r>
            <a:endParaRPr lang="en-US" sz="1200" dirty="0"/>
          </a:p>
        </p:txBody>
      </p:sp>
      <p:sp>
        <p:nvSpPr>
          <p:cNvPr id="60" name="Text 58"/>
          <p:cNvSpPr txBox="1"/>
          <p:nvPr/>
        </p:nvSpPr>
        <p:spPr>
          <a:xfrm>
            <a:off x="4941509" y="2574036"/>
            <a:ext cx="1097280" cy="256032"/>
          </a:xfrm>
          <a:prstGeom prst="rect">
            <a:avLst/>
          </a:prstGeom>
          <a:noFill/>
          <a:ln/>
        </p:spPr>
        <p:txBody>
          <a:bodyPr wrap="square" lIns="0" tIns="0" rIns="0" bIns="0" rtlCol="0" anchor="ctr"/>
          <a:lstStyle/>
          <a:p>
            <a:pPr marL="0" indent="0">
              <a:buNone/>
            </a:pPr>
            <a:r>
              <a:rPr lang="en-US" sz="1200" b="1" dirty="0">
                <a:solidFill>
                  <a:schemeClr val="tx1"/>
                </a:solidFill>
              </a:rPr>
              <a:t>Chennai</a:t>
            </a:r>
            <a:endParaRPr lang="en-US" sz="1200" dirty="0"/>
          </a:p>
        </p:txBody>
      </p:sp>
      <p:sp>
        <p:nvSpPr>
          <p:cNvPr id="61" name="Text 59"/>
          <p:cNvSpPr txBox="1"/>
          <p:nvPr/>
        </p:nvSpPr>
        <p:spPr>
          <a:xfrm>
            <a:off x="1961845" y="1933956"/>
            <a:ext cx="1097280" cy="256032"/>
          </a:xfrm>
          <a:prstGeom prst="rect">
            <a:avLst/>
          </a:prstGeom>
          <a:noFill/>
          <a:ln/>
        </p:spPr>
        <p:txBody>
          <a:bodyPr wrap="square" lIns="0" tIns="0" rIns="0" bIns="0" rtlCol="0" anchor="ctr"/>
          <a:lstStyle/>
          <a:p>
            <a:pPr marL="0" indent="0" algn="r">
              <a:buNone/>
            </a:pPr>
            <a:r>
              <a:rPr lang="en-US" sz="1200" b="1" dirty="0">
                <a:solidFill>
                  <a:schemeClr val="tx1"/>
                </a:solidFill>
              </a:rPr>
              <a:t>Tablet</a:t>
            </a:r>
            <a:endParaRPr lang="en-US" sz="1200" dirty="0"/>
          </a:p>
        </p:txBody>
      </p:sp>
      <p:sp>
        <p:nvSpPr>
          <p:cNvPr id="62" name="Text 60"/>
          <p:cNvSpPr txBox="1"/>
          <p:nvPr/>
        </p:nvSpPr>
        <p:spPr>
          <a:xfrm>
            <a:off x="1407536" y="2253996"/>
            <a:ext cx="1097280" cy="256032"/>
          </a:xfrm>
          <a:prstGeom prst="rect">
            <a:avLst/>
          </a:prstGeom>
          <a:noFill/>
          <a:ln/>
        </p:spPr>
        <p:txBody>
          <a:bodyPr wrap="square" lIns="0" tIns="0" rIns="0" bIns="0" rtlCol="0" anchor="ctr"/>
          <a:lstStyle/>
          <a:p>
            <a:pPr marL="0" indent="0" algn="r">
              <a:buNone/>
            </a:pPr>
            <a:r>
              <a:rPr lang="en-US" sz="1200" b="1" dirty="0">
                <a:solidFill>
                  <a:schemeClr val="tx1"/>
                </a:solidFill>
              </a:rPr>
              <a:t>Laptop</a:t>
            </a:r>
            <a:endParaRPr lang="en-US" sz="1200" dirty="0"/>
          </a:p>
        </p:txBody>
      </p:sp>
      <p:sp>
        <p:nvSpPr>
          <p:cNvPr id="63" name="Text 61"/>
          <p:cNvSpPr txBox="1"/>
          <p:nvPr/>
        </p:nvSpPr>
        <p:spPr>
          <a:xfrm>
            <a:off x="853227" y="2574036"/>
            <a:ext cx="1097280" cy="256032"/>
          </a:xfrm>
          <a:prstGeom prst="rect">
            <a:avLst/>
          </a:prstGeom>
          <a:noFill/>
          <a:ln/>
        </p:spPr>
        <p:txBody>
          <a:bodyPr wrap="square" lIns="0" tIns="0" rIns="0" bIns="0" rtlCol="0" anchor="ctr"/>
          <a:lstStyle/>
          <a:p>
            <a:pPr marL="0" indent="0" algn="r">
              <a:buNone/>
            </a:pPr>
            <a:r>
              <a:rPr lang="en-US" sz="1200" b="1" dirty="0">
                <a:solidFill>
                  <a:schemeClr val="tx1"/>
                </a:solidFill>
              </a:rPr>
              <a:t>Phone</a:t>
            </a:r>
            <a:endParaRPr lang="en-US" sz="1200" dirty="0"/>
          </a:p>
        </p:txBody>
      </p:sp>
      <p:sp>
        <p:nvSpPr>
          <p:cNvPr id="64" name="Text 62"/>
          <p:cNvSpPr txBox="1"/>
          <p:nvPr/>
        </p:nvSpPr>
        <p:spPr>
          <a:xfrm>
            <a:off x="1124712" y="3200400"/>
            <a:ext cx="548640" cy="256032"/>
          </a:xfrm>
          <a:prstGeom prst="rect">
            <a:avLst/>
          </a:prstGeom>
          <a:noFill/>
          <a:ln/>
        </p:spPr>
        <p:txBody>
          <a:bodyPr wrap="square" lIns="0" tIns="0" rIns="0" bIns="0" rtlCol="0" anchor="ctr"/>
          <a:lstStyle/>
          <a:p>
            <a:pPr marL="0" indent="0" algn="r">
              <a:buNone/>
            </a:pPr>
            <a:r>
              <a:rPr lang="en-US" sz="1200" b="1" dirty="0">
                <a:solidFill>
                  <a:schemeClr val="tx1"/>
                </a:solidFill>
              </a:rPr>
              <a:t>Jan</a:t>
            </a:r>
            <a:endParaRPr lang="en-US" sz="1200" dirty="0"/>
          </a:p>
        </p:txBody>
      </p:sp>
      <p:sp>
        <p:nvSpPr>
          <p:cNvPr id="65" name="Text 63"/>
          <p:cNvSpPr txBox="1"/>
          <p:nvPr/>
        </p:nvSpPr>
        <p:spPr>
          <a:xfrm>
            <a:off x="1124712" y="3730752"/>
            <a:ext cx="548640" cy="256032"/>
          </a:xfrm>
          <a:prstGeom prst="rect">
            <a:avLst/>
          </a:prstGeom>
          <a:noFill/>
          <a:ln/>
        </p:spPr>
        <p:txBody>
          <a:bodyPr wrap="square" lIns="0" tIns="0" rIns="0" bIns="0" rtlCol="0" anchor="ctr"/>
          <a:lstStyle/>
          <a:p>
            <a:pPr marL="0" indent="0" algn="r">
              <a:buNone/>
            </a:pPr>
            <a:r>
              <a:rPr lang="en-US" sz="1200" b="1" dirty="0">
                <a:solidFill>
                  <a:schemeClr val="tx1"/>
                </a:solidFill>
              </a:rPr>
              <a:t>Feb</a:t>
            </a:r>
            <a:endParaRPr lang="en-US" sz="1200" dirty="0"/>
          </a:p>
        </p:txBody>
      </p:sp>
      <p:sp>
        <p:nvSpPr>
          <p:cNvPr id="66" name="Text 64"/>
          <p:cNvSpPr txBox="1"/>
          <p:nvPr/>
        </p:nvSpPr>
        <p:spPr>
          <a:xfrm>
            <a:off x="1124712" y="4261104"/>
            <a:ext cx="548640" cy="256032"/>
          </a:xfrm>
          <a:prstGeom prst="rect">
            <a:avLst/>
          </a:prstGeom>
          <a:noFill/>
          <a:ln/>
        </p:spPr>
        <p:txBody>
          <a:bodyPr wrap="square" lIns="0" tIns="0" rIns="0" bIns="0" rtlCol="0" anchor="ctr"/>
          <a:lstStyle/>
          <a:p>
            <a:pPr marL="0" indent="0" algn="r">
              <a:buNone/>
            </a:pPr>
            <a:r>
              <a:rPr lang="en-US" sz="1200" b="1" dirty="0">
                <a:solidFill>
                  <a:schemeClr val="tx1"/>
                </a:solidFill>
              </a:rPr>
              <a:t>Mar</a:t>
            </a:r>
            <a:endParaRPr lang="en-US" sz="1200" dirty="0"/>
          </a:p>
        </p:txBody>
      </p:sp>
      <p:sp>
        <p:nvSpPr>
          <p:cNvPr id="67" name="Text 65"/>
          <p:cNvSpPr txBox="1"/>
          <p:nvPr/>
        </p:nvSpPr>
        <p:spPr>
          <a:xfrm>
            <a:off x="868680" y="1938528"/>
            <a:ext cx="914400" cy="256032"/>
          </a:xfrm>
          <a:prstGeom prst="roundRect">
            <a:avLst>
              <a:gd name="adj" fmla="val 21429"/>
            </a:avLst>
          </a:prstGeom>
          <a:solidFill>
            <a:schemeClr val="accent2"/>
          </a:solidFill>
          <a:ln/>
        </p:spPr>
        <p:txBody>
          <a:bodyPr wrap="square" lIns="0" tIns="0" rIns="0" bIns="0" rtlCol="0" anchor="ctr"/>
          <a:lstStyle/>
          <a:p>
            <a:pPr marL="0" indent="0" algn="ctr">
              <a:buNone/>
            </a:pPr>
            <a:r>
              <a:rPr lang="en-US" sz="1000" b="1" dirty="0">
                <a:solidFill>
                  <a:schemeClr val="tx1"/>
                </a:solidFill>
              </a:rPr>
              <a:t>PRODUCT</a:t>
            </a:r>
            <a:endParaRPr lang="en-US" sz="1000" dirty="0"/>
          </a:p>
        </p:txBody>
      </p:sp>
      <p:sp>
        <p:nvSpPr>
          <p:cNvPr id="68" name="Text 66"/>
          <p:cNvSpPr txBox="1"/>
          <p:nvPr/>
        </p:nvSpPr>
        <p:spPr>
          <a:xfrm>
            <a:off x="4800600" y="1938528"/>
            <a:ext cx="960120" cy="256032"/>
          </a:xfrm>
          <a:prstGeom prst="roundRect">
            <a:avLst>
              <a:gd name="adj" fmla="val 21429"/>
            </a:avLst>
          </a:prstGeom>
          <a:solidFill>
            <a:schemeClr val="accent3"/>
          </a:solidFill>
          <a:ln/>
        </p:spPr>
        <p:txBody>
          <a:bodyPr wrap="square" lIns="0" tIns="0" rIns="0" bIns="0" rtlCol="0" anchor="ctr"/>
          <a:lstStyle/>
          <a:p>
            <a:pPr marL="0" indent="0" algn="ctr">
              <a:buNone/>
            </a:pPr>
            <a:r>
              <a:rPr lang="en-US" sz="1000" b="1" dirty="0">
                <a:solidFill>
                  <a:schemeClr val="bg1"/>
                </a:solidFill>
              </a:rPr>
              <a:t>LOCATION</a:t>
            </a:r>
            <a:endParaRPr lang="en-US" sz="1000" dirty="0"/>
          </a:p>
        </p:txBody>
      </p:sp>
      <p:sp>
        <p:nvSpPr>
          <p:cNvPr id="69" name="Text 67"/>
          <p:cNvSpPr txBox="1"/>
          <p:nvPr/>
        </p:nvSpPr>
        <p:spPr>
          <a:xfrm>
            <a:off x="685800" y="4764024"/>
            <a:ext cx="640080" cy="256032"/>
          </a:xfrm>
          <a:prstGeom prst="roundRect">
            <a:avLst>
              <a:gd name="adj" fmla="val 21429"/>
            </a:avLst>
          </a:prstGeom>
          <a:solidFill>
            <a:schemeClr val="accent1"/>
          </a:solidFill>
          <a:ln/>
        </p:spPr>
        <p:txBody>
          <a:bodyPr wrap="square" lIns="0" tIns="0" rIns="0" bIns="0" rtlCol="0" anchor="ctr"/>
          <a:lstStyle/>
          <a:p>
            <a:pPr marL="0" indent="0" algn="ctr">
              <a:buNone/>
            </a:pPr>
            <a:r>
              <a:rPr lang="en-US" sz="1000" b="1" dirty="0">
                <a:solidFill>
                  <a:schemeClr val="bg1"/>
                </a:solidFill>
              </a:rPr>
              <a:t>TIME</a:t>
            </a:r>
            <a:endParaRPr lang="en-US" sz="1000" dirty="0"/>
          </a:p>
        </p:txBody>
      </p:sp>
      <p:sp>
        <p:nvSpPr>
          <p:cNvPr id="70" name="Shape 68"/>
          <p:cNvSpPr/>
          <p:nvPr/>
        </p:nvSpPr>
        <p:spPr>
          <a:xfrm>
            <a:off x="1783080" y="5788152"/>
            <a:ext cx="219456" cy="219456"/>
          </a:xfrm>
          <a:prstGeom prst="rect">
            <a:avLst/>
          </a:prstGeom>
          <a:solidFill>
            <a:schemeClr val="accent3"/>
          </a:solidFill>
          <a:ln w="12700">
            <a:solidFill>
              <a:schemeClr val="accent3"/>
            </a:solidFill>
            <a:prstDash val="solid"/>
          </a:ln>
        </p:spPr>
      </p:sp>
      <p:sp>
        <p:nvSpPr>
          <p:cNvPr id="71" name="Text 69"/>
          <p:cNvSpPr txBox="1"/>
          <p:nvPr/>
        </p:nvSpPr>
        <p:spPr>
          <a:xfrm>
            <a:off x="2103120" y="5760720"/>
            <a:ext cx="3931920" cy="274320"/>
          </a:xfrm>
          <a:prstGeom prst="rect">
            <a:avLst/>
          </a:prstGeom>
          <a:noFill/>
          <a:ln/>
        </p:spPr>
        <p:txBody>
          <a:bodyPr wrap="square" lIns="0" tIns="0" rIns="0" bIns="0" rtlCol="0" anchor="ctr"/>
          <a:lstStyle/>
          <a:p>
            <a:pPr marL="0" indent="0">
              <a:buNone/>
            </a:pPr>
            <a:r>
              <a:rPr lang="en-US" sz="1300" b="1" dirty="0">
                <a:solidFill>
                  <a:schemeClr val="tx1"/>
                </a:solidFill>
              </a:rPr>
              <a:t>One cell = one fact:  </a:t>
            </a:r>
            <a:r>
              <a:rPr lang="en-US" sz="1300" dirty="0">
                <a:solidFill>
                  <a:schemeClr val="tx1"/>
                </a:solidFill>
              </a:rPr>
              <a:t>Phone · Chennai · Feb  →  ₹9 lakh</a:t>
            </a:r>
            <a:endParaRPr lang="en-US" sz="1300" dirty="0"/>
          </a:p>
        </p:txBody>
      </p:sp>
      <p:sp>
        <p:nvSpPr>
          <p:cNvPr id="72" name="Text 70"/>
          <p:cNvSpPr txBox="1"/>
          <p:nvPr/>
        </p:nvSpPr>
        <p:spPr>
          <a:xfrm>
            <a:off x="6675120" y="1874520"/>
            <a:ext cx="4965192" cy="274320"/>
          </a:xfrm>
          <a:prstGeom prst="rect">
            <a:avLst/>
          </a:prstGeom>
          <a:noFill/>
          <a:ln/>
        </p:spPr>
        <p:txBody>
          <a:bodyPr wrap="square" lIns="0" tIns="0" rIns="0" bIns="0" rtlCol="0" anchor="ctr"/>
          <a:lstStyle/>
          <a:p>
            <a:pPr marL="0" indent="0">
              <a:buNone/>
            </a:pPr>
            <a:r>
              <a:rPr lang="en-US" sz="1600" b="1" dirty="0">
                <a:solidFill>
                  <a:schemeClr val="tx1"/>
                </a:solidFill>
              </a:rPr>
              <a:t>Dimension</a:t>
            </a:r>
            <a:endParaRPr lang="en-US" sz="1600" dirty="0"/>
          </a:p>
        </p:txBody>
      </p:sp>
      <p:sp>
        <p:nvSpPr>
          <p:cNvPr id="73" name="Text 71"/>
          <p:cNvSpPr txBox="1"/>
          <p:nvPr/>
        </p:nvSpPr>
        <p:spPr>
          <a:xfrm>
            <a:off x="6675120" y="2157984"/>
            <a:ext cx="4965192" cy="274320"/>
          </a:xfrm>
          <a:prstGeom prst="rect">
            <a:avLst/>
          </a:prstGeom>
          <a:noFill/>
          <a:ln/>
        </p:spPr>
        <p:txBody>
          <a:bodyPr wrap="square" lIns="0" tIns="0" rIns="0" bIns="0" rtlCol="0" anchor="ctr"/>
          <a:lstStyle/>
          <a:p>
            <a:pPr marL="0" indent="0">
              <a:buNone/>
            </a:pPr>
            <a:r>
              <a:rPr lang="en-US" sz="1300" dirty="0">
                <a:solidFill>
                  <a:schemeClr val="accent4"/>
                </a:solidFill>
              </a:rPr>
              <a:t>A perspective to analyse by. Here: Product, Location, Time.</a:t>
            </a:r>
            <a:endParaRPr lang="en-US" sz="1300" dirty="0"/>
          </a:p>
        </p:txBody>
      </p:sp>
      <p:sp>
        <p:nvSpPr>
          <p:cNvPr id="74" name="Text 72"/>
          <p:cNvSpPr txBox="1"/>
          <p:nvPr/>
        </p:nvSpPr>
        <p:spPr>
          <a:xfrm>
            <a:off x="6675120" y="2587752"/>
            <a:ext cx="4965192" cy="274320"/>
          </a:xfrm>
          <a:prstGeom prst="rect">
            <a:avLst/>
          </a:prstGeom>
          <a:noFill/>
          <a:ln/>
        </p:spPr>
        <p:txBody>
          <a:bodyPr wrap="square" lIns="0" tIns="0" rIns="0" bIns="0" rtlCol="0" anchor="ctr"/>
          <a:lstStyle/>
          <a:p>
            <a:pPr marL="0" indent="0">
              <a:buNone/>
            </a:pPr>
            <a:r>
              <a:rPr lang="en-US" sz="1600" b="1" dirty="0">
                <a:solidFill>
                  <a:schemeClr val="tx1"/>
                </a:solidFill>
              </a:rPr>
              <a:t>Measure</a:t>
            </a:r>
            <a:endParaRPr lang="en-US" sz="1600" dirty="0"/>
          </a:p>
        </p:txBody>
      </p:sp>
      <p:sp>
        <p:nvSpPr>
          <p:cNvPr id="75" name="Text 73"/>
          <p:cNvSpPr txBox="1"/>
          <p:nvPr/>
        </p:nvSpPr>
        <p:spPr>
          <a:xfrm>
            <a:off x="6675120" y="2871216"/>
            <a:ext cx="4965192" cy="274320"/>
          </a:xfrm>
          <a:prstGeom prst="rect">
            <a:avLst/>
          </a:prstGeom>
          <a:noFill/>
          <a:ln/>
        </p:spPr>
        <p:txBody>
          <a:bodyPr wrap="square" lIns="0" tIns="0" rIns="0" bIns="0" rtlCol="0" anchor="ctr"/>
          <a:lstStyle/>
          <a:p>
            <a:pPr marL="0" indent="0">
              <a:buNone/>
            </a:pPr>
            <a:r>
              <a:rPr lang="en-US" sz="1300" dirty="0">
                <a:solidFill>
                  <a:schemeClr val="accent4"/>
                </a:solidFill>
              </a:rPr>
              <a:t>The number in each cell. Here: sales in ₹ lakh, aggregated with SUM.</a:t>
            </a:r>
            <a:endParaRPr lang="en-US" sz="1300" dirty="0"/>
          </a:p>
        </p:txBody>
      </p:sp>
      <p:sp>
        <p:nvSpPr>
          <p:cNvPr id="76" name="Text 74"/>
          <p:cNvSpPr txBox="1"/>
          <p:nvPr/>
        </p:nvSpPr>
        <p:spPr>
          <a:xfrm>
            <a:off x="6675120" y="3300984"/>
            <a:ext cx="4965192" cy="274320"/>
          </a:xfrm>
          <a:prstGeom prst="rect">
            <a:avLst/>
          </a:prstGeom>
          <a:noFill/>
          <a:ln/>
        </p:spPr>
        <p:txBody>
          <a:bodyPr wrap="square" lIns="0" tIns="0" rIns="0" bIns="0" rtlCol="0" anchor="ctr"/>
          <a:lstStyle/>
          <a:p>
            <a:pPr marL="0" indent="0">
              <a:buNone/>
            </a:pPr>
            <a:r>
              <a:rPr lang="en-US" sz="1600" b="1" dirty="0">
                <a:solidFill>
                  <a:schemeClr val="tx1"/>
                </a:solidFill>
              </a:rPr>
              <a:t>Concept hierarchy</a:t>
            </a:r>
            <a:endParaRPr lang="en-US" sz="1600" dirty="0"/>
          </a:p>
        </p:txBody>
      </p:sp>
      <p:sp>
        <p:nvSpPr>
          <p:cNvPr id="77" name="Text 75"/>
          <p:cNvSpPr txBox="1"/>
          <p:nvPr/>
        </p:nvSpPr>
        <p:spPr>
          <a:xfrm>
            <a:off x="6675120" y="3584448"/>
            <a:ext cx="4965192" cy="274320"/>
          </a:xfrm>
          <a:prstGeom prst="rect">
            <a:avLst/>
          </a:prstGeom>
          <a:noFill/>
          <a:ln/>
        </p:spPr>
        <p:txBody>
          <a:bodyPr wrap="square" lIns="0" tIns="0" rIns="0" bIns="0" rtlCol="0" anchor="ctr"/>
          <a:lstStyle/>
          <a:p>
            <a:pPr marL="0" indent="0">
              <a:buNone/>
            </a:pPr>
            <a:r>
              <a:rPr lang="en-US" sz="1300" dirty="0">
                <a:solidFill>
                  <a:schemeClr val="accent4"/>
                </a:solidFill>
              </a:rPr>
              <a:t>Levels of detail inside one dimension:</a:t>
            </a:r>
            <a:endParaRPr lang="en-US" sz="1300" dirty="0"/>
          </a:p>
        </p:txBody>
      </p:sp>
      <p:sp>
        <p:nvSpPr>
          <p:cNvPr id="78" name="Text 76"/>
          <p:cNvSpPr txBox="1"/>
          <p:nvPr/>
        </p:nvSpPr>
        <p:spPr>
          <a:xfrm>
            <a:off x="6675120" y="3931920"/>
            <a:ext cx="960120" cy="256032"/>
          </a:xfrm>
          <a:prstGeom prst="roundRect">
            <a:avLst>
              <a:gd name="adj" fmla="val 21429"/>
            </a:avLst>
          </a:prstGeom>
          <a:solidFill>
            <a:schemeClr val="accent1"/>
          </a:solidFill>
          <a:ln/>
        </p:spPr>
        <p:txBody>
          <a:bodyPr wrap="square" lIns="0" tIns="0" rIns="0" bIns="0" rtlCol="0" anchor="ctr"/>
          <a:lstStyle/>
          <a:p>
            <a:pPr marL="0" indent="0" algn="ctr">
              <a:buNone/>
            </a:pPr>
            <a:r>
              <a:rPr lang="en-US" sz="1000" b="1" dirty="0">
                <a:solidFill>
                  <a:schemeClr val="bg1"/>
                </a:solidFill>
              </a:rPr>
              <a:t>TIME</a:t>
            </a:r>
            <a:endParaRPr lang="en-US" sz="1000" dirty="0"/>
          </a:p>
        </p:txBody>
      </p:sp>
      <p:sp>
        <p:nvSpPr>
          <p:cNvPr id="79" name="Text 77"/>
          <p:cNvSpPr txBox="1"/>
          <p:nvPr/>
        </p:nvSpPr>
        <p:spPr>
          <a:xfrm>
            <a:off x="7772400" y="3931920"/>
            <a:ext cx="3840480" cy="256032"/>
          </a:xfrm>
          <a:prstGeom prst="rect">
            <a:avLst/>
          </a:prstGeom>
          <a:noFill/>
          <a:ln/>
        </p:spPr>
        <p:txBody>
          <a:bodyPr wrap="square" lIns="0" tIns="0" rIns="0" bIns="0" rtlCol="0" anchor="ctr"/>
          <a:lstStyle/>
          <a:p>
            <a:pPr marL="0" indent="0">
              <a:buNone/>
            </a:pPr>
            <a:r>
              <a:rPr lang="en-US" sz="1300" dirty="0">
                <a:solidFill>
                  <a:schemeClr val="tx1"/>
                </a:solidFill>
              </a:rPr>
              <a:t>Day  →  Month  →  Quarter  →  Year</a:t>
            </a:r>
            <a:endParaRPr lang="en-US" sz="1300" dirty="0"/>
          </a:p>
        </p:txBody>
      </p:sp>
      <p:sp>
        <p:nvSpPr>
          <p:cNvPr id="80" name="Text 78"/>
          <p:cNvSpPr txBox="1"/>
          <p:nvPr/>
        </p:nvSpPr>
        <p:spPr>
          <a:xfrm>
            <a:off x="6675120" y="4261104"/>
            <a:ext cx="960120" cy="256032"/>
          </a:xfrm>
          <a:prstGeom prst="roundRect">
            <a:avLst>
              <a:gd name="adj" fmla="val 21429"/>
            </a:avLst>
          </a:prstGeom>
          <a:solidFill>
            <a:schemeClr val="accent3"/>
          </a:solidFill>
          <a:ln/>
        </p:spPr>
        <p:txBody>
          <a:bodyPr wrap="square" lIns="0" tIns="0" rIns="0" bIns="0" rtlCol="0" anchor="ctr"/>
          <a:lstStyle/>
          <a:p>
            <a:pPr marL="0" indent="0" algn="ctr">
              <a:buNone/>
            </a:pPr>
            <a:r>
              <a:rPr lang="en-US" sz="1000" b="1" dirty="0">
                <a:solidFill>
                  <a:schemeClr val="bg1"/>
                </a:solidFill>
              </a:rPr>
              <a:t>LOCATION</a:t>
            </a:r>
            <a:endParaRPr lang="en-US" sz="1000" dirty="0"/>
          </a:p>
        </p:txBody>
      </p:sp>
      <p:sp>
        <p:nvSpPr>
          <p:cNvPr id="81" name="Text 79"/>
          <p:cNvSpPr txBox="1"/>
          <p:nvPr/>
        </p:nvSpPr>
        <p:spPr>
          <a:xfrm>
            <a:off x="7772400" y="4261104"/>
            <a:ext cx="3840480" cy="256032"/>
          </a:xfrm>
          <a:prstGeom prst="rect">
            <a:avLst/>
          </a:prstGeom>
          <a:noFill/>
          <a:ln/>
        </p:spPr>
        <p:txBody>
          <a:bodyPr wrap="square" lIns="0" tIns="0" rIns="0" bIns="0" rtlCol="0" anchor="ctr"/>
          <a:lstStyle/>
          <a:p>
            <a:pPr marL="0" indent="0">
              <a:buNone/>
            </a:pPr>
            <a:r>
              <a:rPr lang="en-US" sz="1300" dirty="0">
                <a:solidFill>
                  <a:schemeClr val="tx1"/>
                </a:solidFill>
              </a:rPr>
              <a:t>City  →  State  →  Country</a:t>
            </a:r>
            <a:endParaRPr lang="en-US" sz="1300" dirty="0"/>
          </a:p>
        </p:txBody>
      </p:sp>
      <p:sp>
        <p:nvSpPr>
          <p:cNvPr id="82" name="Text 80"/>
          <p:cNvSpPr txBox="1"/>
          <p:nvPr/>
        </p:nvSpPr>
        <p:spPr>
          <a:xfrm>
            <a:off x="6675120" y="4590288"/>
            <a:ext cx="960120" cy="256032"/>
          </a:xfrm>
          <a:prstGeom prst="roundRect">
            <a:avLst>
              <a:gd name="adj" fmla="val 21429"/>
            </a:avLst>
          </a:prstGeom>
          <a:solidFill>
            <a:schemeClr val="accent2"/>
          </a:solidFill>
          <a:ln/>
        </p:spPr>
        <p:txBody>
          <a:bodyPr wrap="square" lIns="0" tIns="0" rIns="0" bIns="0" rtlCol="0" anchor="ctr"/>
          <a:lstStyle/>
          <a:p>
            <a:pPr marL="0" indent="0" algn="ctr">
              <a:buNone/>
            </a:pPr>
            <a:r>
              <a:rPr lang="en-US" sz="1000" b="1" dirty="0">
                <a:solidFill>
                  <a:schemeClr val="tx1"/>
                </a:solidFill>
              </a:rPr>
              <a:t>PRODUCT</a:t>
            </a:r>
            <a:endParaRPr lang="en-US" sz="1000" dirty="0"/>
          </a:p>
        </p:txBody>
      </p:sp>
      <p:sp>
        <p:nvSpPr>
          <p:cNvPr id="83" name="Text 81"/>
          <p:cNvSpPr txBox="1"/>
          <p:nvPr/>
        </p:nvSpPr>
        <p:spPr>
          <a:xfrm>
            <a:off x="7772400" y="4590288"/>
            <a:ext cx="3840480" cy="256032"/>
          </a:xfrm>
          <a:prstGeom prst="rect">
            <a:avLst/>
          </a:prstGeom>
          <a:noFill/>
          <a:ln/>
        </p:spPr>
        <p:txBody>
          <a:bodyPr wrap="square" lIns="0" tIns="0" rIns="0" bIns="0" rtlCol="0" anchor="ctr"/>
          <a:lstStyle/>
          <a:p>
            <a:pPr marL="0" indent="0">
              <a:buNone/>
            </a:pPr>
            <a:r>
              <a:rPr lang="en-US" sz="1300" dirty="0">
                <a:solidFill>
                  <a:schemeClr val="tx1"/>
                </a:solidFill>
              </a:rPr>
              <a:t>Item  →  Category</a:t>
            </a:r>
            <a:endParaRPr lang="en-US" sz="1300" dirty="0"/>
          </a:p>
        </p:txBody>
      </p:sp>
      <p:sp>
        <p:nvSpPr>
          <p:cNvPr id="84" name="Text 82"/>
          <p:cNvSpPr txBox="1"/>
          <p:nvPr/>
        </p:nvSpPr>
        <p:spPr>
          <a:xfrm>
            <a:off x="6675120" y="5029200"/>
            <a:ext cx="4965192" cy="274320"/>
          </a:xfrm>
          <a:prstGeom prst="rect">
            <a:avLst/>
          </a:prstGeom>
          <a:noFill/>
          <a:ln/>
        </p:spPr>
        <p:txBody>
          <a:bodyPr wrap="square" lIns="0" tIns="0" rIns="0" bIns="0" rtlCol="0" anchor="ctr"/>
          <a:lstStyle/>
          <a:p>
            <a:pPr marL="0" indent="0">
              <a:buNone/>
            </a:pPr>
            <a:r>
              <a:rPr lang="en-US" sz="1600" b="1" dirty="0">
                <a:solidFill>
                  <a:schemeClr val="tx1"/>
                </a:solidFill>
              </a:rPr>
              <a:t>Stored as a star schema</a:t>
            </a:r>
            <a:endParaRPr lang="en-US" sz="1600" dirty="0"/>
          </a:p>
        </p:txBody>
      </p:sp>
      <p:sp>
        <p:nvSpPr>
          <p:cNvPr id="85" name="fact-table"/>
          <p:cNvSpPr/>
          <p:nvPr/>
        </p:nvSpPr>
        <p:spPr>
          <a:xfrm>
            <a:off x="6675120" y="5376672"/>
            <a:ext cx="2697480" cy="749808"/>
          </a:xfrm>
          <a:prstGeom prst="roundRect">
            <a:avLst>
              <a:gd name="adj" fmla="val 9756"/>
            </a:avLst>
          </a:prstGeom>
          <a:solidFill>
            <a:schemeClr val="tx1"/>
          </a:solidFill>
          <a:ln w="12700">
            <a:solidFill>
              <a:schemeClr val="tx1"/>
            </a:solidFill>
            <a:prstDash val="solid"/>
          </a:ln>
        </p:spPr>
      </p:sp>
      <p:sp>
        <p:nvSpPr>
          <p:cNvPr id="86" name="Text 84"/>
          <p:cNvSpPr txBox="1"/>
          <p:nvPr/>
        </p:nvSpPr>
        <p:spPr>
          <a:xfrm>
            <a:off x="6812280" y="5394960"/>
            <a:ext cx="2468880" cy="713232"/>
          </a:xfrm>
          <a:prstGeom prst="rect">
            <a:avLst/>
          </a:prstGeom>
          <a:noFill/>
          <a:ln/>
        </p:spPr>
        <p:txBody>
          <a:bodyPr wrap="square" lIns="0" tIns="0" rIns="0" bIns="0" rtlCol="0" anchor="ctr"/>
          <a:lstStyle/>
          <a:p>
            <a:pPr marL="0" indent="0">
              <a:buNone/>
            </a:pPr>
            <a:r>
              <a:rPr lang="en-US" sz="1200" b="1" dirty="0">
                <a:solidFill>
                  <a:schemeClr val="bg1"/>
                </a:solidFill>
              </a:rPr>
              <a:t>SALES (fact table)</a:t>
            </a:r>
            <a:endParaRPr lang="en-US" sz="1200" dirty="0"/>
          </a:p>
          <a:p>
            <a:pPr marL="0" indent="0">
              <a:buNone/>
            </a:pPr>
            <a:r>
              <a:rPr lang="en-US" sz="1000" dirty="0">
                <a:solidFill>
                  <a:schemeClr val="accent5"/>
                </a:solidFill>
              </a:rPr>
              <a:t>time_key · product_key · city_key · amount</a:t>
            </a:r>
            <a:endParaRPr lang="en-US" sz="1200" dirty="0"/>
          </a:p>
        </p:txBody>
      </p:sp>
      <p:sp>
        <p:nvSpPr>
          <p:cNvPr id="87" name="Shape 85"/>
          <p:cNvSpPr/>
          <p:nvPr/>
        </p:nvSpPr>
        <p:spPr>
          <a:xfrm flipV="1">
            <a:off x="9372600" y="5486400"/>
            <a:ext cx="777240" cy="265176"/>
          </a:xfrm>
          <a:prstGeom prst="line">
            <a:avLst/>
          </a:prstGeom>
          <a:noFill/>
          <a:ln w="12700">
            <a:solidFill>
              <a:schemeClr val="accent4"/>
            </a:solidFill>
            <a:prstDash val="solid"/>
          </a:ln>
        </p:spPr>
      </p:sp>
      <p:sp>
        <p:nvSpPr>
          <p:cNvPr id="88" name="Text 86"/>
          <p:cNvSpPr txBox="1"/>
          <p:nvPr/>
        </p:nvSpPr>
        <p:spPr>
          <a:xfrm>
            <a:off x="10149840" y="5376672"/>
            <a:ext cx="1371600" cy="219456"/>
          </a:xfrm>
          <a:prstGeom prst="roundRect">
            <a:avLst>
              <a:gd name="adj" fmla="val 25000"/>
            </a:avLst>
          </a:prstGeom>
          <a:solidFill>
            <a:schemeClr val="accent1"/>
          </a:solidFill>
          <a:ln/>
        </p:spPr>
        <p:txBody>
          <a:bodyPr wrap="square" lIns="0" tIns="0" rIns="0" bIns="0" rtlCol="0" anchor="ctr"/>
          <a:lstStyle/>
          <a:p>
            <a:pPr marL="0" indent="0" algn="ctr">
              <a:buNone/>
            </a:pPr>
            <a:r>
              <a:rPr lang="en-US" sz="900" b="1" dirty="0">
                <a:solidFill>
                  <a:schemeClr val="bg1"/>
                </a:solidFill>
              </a:rPr>
              <a:t>DIM_TIME</a:t>
            </a:r>
            <a:endParaRPr lang="en-US" sz="900" dirty="0"/>
          </a:p>
        </p:txBody>
      </p:sp>
      <p:sp>
        <p:nvSpPr>
          <p:cNvPr id="89" name="Shape 87"/>
          <p:cNvSpPr/>
          <p:nvPr/>
        </p:nvSpPr>
        <p:spPr>
          <a:xfrm>
            <a:off x="9372600" y="5751576"/>
            <a:ext cx="777240" cy="0"/>
          </a:xfrm>
          <a:prstGeom prst="line">
            <a:avLst/>
          </a:prstGeom>
          <a:noFill/>
          <a:ln w="12700">
            <a:solidFill>
              <a:schemeClr val="accent4"/>
            </a:solidFill>
            <a:prstDash val="solid"/>
          </a:ln>
        </p:spPr>
      </p:sp>
      <p:sp>
        <p:nvSpPr>
          <p:cNvPr id="90" name="Text 88"/>
          <p:cNvSpPr txBox="1"/>
          <p:nvPr/>
        </p:nvSpPr>
        <p:spPr>
          <a:xfrm>
            <a:off x="10149840" y="5641848"/>
            <a:ext cx="1371600" cy="219456"/>
          </a:xfrm>
          <a:prstGeom prst="roundRect">
            <a:avLst>
              <a:gd name="adj" fmla="val 25000"/>
            </a:avLst>
          </a:prstGeom>
          <a:solidFill>
            <a:schemeClr val="accent2"/>
          </a:solidFill>
          <a:ln/>
        </p:spPr>
        <p:txBody>
          <a:bodyPr wrap="square" lIns="0" tIns="0" rIns="0" bIns="0" rtlCol="0" anchor="ctr"/>
          <a:lstStyle/>
          <a:p>
            <a:pPr marL="0" indent="0" algn="ctr">
              <a:buNone/>
            </a:pPr>
            <a:r>
              <a:rPr lang="en-US" sz="900" b="1" dirty="0">
                <a:solidFill>
                  <a:schemeClr val="tx1"/>
                </a:solidFill>
              </a:rPr>
              <a:t>DIM_PRODUCT</a:t>
            </a:r>
            <a:endParaRPr lang="en-US" sz="900" dirty="0"/>
          </a:p>
        </p:txBody>
      </p:sp>
      <p:sp>
        <p:nvSpPr>
          <p:cNvPr id="91" name="Shape 89"/>
          <p:cNvSpPr/>
          <p:nvPr/>
        </p:nvSpPr>
        <p:spPr>
          <a:xfrm>
            <a:off x="9372600" y="5751576"/>
            <a:ext cx="777240" cy="265176"/>
          </a:xfrm>
          <a:prstGeom prst="line">
            <a:avLst/>
          </a:prstGeom>
          <a:noFill/>
          <a:ln w="12700">
            <a:solidFill>
              <a:schemeClr val="accent4"/>
            </a:solidFill>
            <a:prstDash val="solid"/>
          </a:ln>
        </p:spPr>
      </p:sp>
      <p:sp>
        <p:nvSpPr>
          <p:cNvPr id="92" name="Text 90"/>
          <p:cNvSpPr txBox="1"/>
          <p:nvPr/>
        </p:nvSpPr>
        <p:spPr>
          <a:xfrm>
            <a:off x="10149840" y="5907024"/>
            <a:ext cx="1371600" cy="219456"/>
          </a:xfrm>
          <a:prstGeom prst="roundRect">
            <a:avLst>
              <a:gd name="adj" fmla="val 25000"/>
            </a:avLst>
          </a:prstGeom>
          <a:solidFill>
            <a:schemeClr val="accent3"/>
          </a:solidFill>
          <a:ln/>
        </p:spPr>
        <p:txBody>
          <a:bodyPr wrap="square" lIns="0" tIns="0" rIns="0" bIns="0" rtlCol="0" anchor="ctr"/>
          <a:lstStyle/>
          <a:p>
            <a:pPr marL="0" indent="0" algn="ctr">
              <a:buNone/>
            </a:pPr>
            <a:r>
              <a:rPr lang="en-US" sz="900" b="1" dirty="0">
                <a:solidFill>
                  <a:schemeClr val="bg1"/>
                </a:solidFill>
              </a:rPr>
              <a:t>DIM_LOCATION</a:t>
            </a:r>
            <a:endParaRPr lang="en-US" sz="900" dirty="0"/>
          </a:p>
        </p:txBody>
      </p:sp>
      <p:sp>
        <p:nvSpPr>
          <p:cNvPr id="93"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411480"/>
            <a:ext cx="8229600" cy="274320"/>
          </a:xfrm>
          <a:prstGeom prst="rect">
            <a:avLst/>
          </a:prstGeom>
          <a:noFill/>
          <a:ln/>
        </p:spPr>
        <p:txBody>
          <a:bodyPr wrap="square" lIns="0" tIns="0" rIns="0" bIns="0" rtlCol="0"/>
          <a:lstStyle/>
          <a:p>
            <a:pPr marL="0" indent="0">
              <a:buNone/>
            </a:pPr>
            <a:r>
              <a:rPr lang="en-US" sz="1200" b="1" kern="0" spc="300" dirty="0">
                <a:solidFill>
                  <a:schemeClr val="accent3"/>
                </a:solidFill>
              </a:rPr>
              <a:t>03  ·  OLAP OPERATIONS</a:t>
            </a:r>
            <a:endParaRPr lang="en-US" sz="1200" dirty="0"/>
          </a:p>
        </p:txBody>
      </p:sp>
      <p:sp>
        <p:nvSpPr>
          <p:cNvPr id="3" name="Text 1"/>
          <p:cNvSpPr>
            <a:spLocks noGrp="1"/>
          </p:cNvSpPr>
          <p:nvPr>
            <p:ph type="title" idx="104" hasCustomPrompt="1"/>
          </p:nvPr>
        </p:nvSpPr>
        <p:spPr>
          <a:xfrm>
            <a:off x="548640" y="749808"/>
            <a:ext cx="9509760" cy="960120"/>
          </a:xfrm>
          <a:prstGeom prst="rect">
            <a:avLst/>
          </a:prstGeom>
          <a:noFill/>
          <a:ln/>
        </p:spPr>
        <p:txBody>
          <a:bodyPr wrap="square" lIns="0" tIns="0" rIns="0" bIns="0" rtlCol="0" anchor="t"/>
          <a:lstStyle/>
          <a:p>
            <a:pPr marL="0" indent="0" algn="l">
              <a:buNone/>
            </a:pPr>
            <a:r>
              <a:rPr lang="en-US" sz="3000" b="1" dirty="0">
                <a:solidFill>
                  <a:schemeClr val="tx1"/>
                </a:solidFill>
              </a:rPr>
              <a:t>Five operations let the analyst move around the cube</a:t>
            </a:r>
            <a:endParaRPr lang="en-US" sz="3000" dirty="0"/>
          </a:p>
        </p:txBody>
      </p:sp>
      <p:sp>
        <p:nvSpPr>
          <p:cNvPr id="4" name="op-Roll-up"/>
          <p:cNvSpPr/>
          <p:nvPr/>
        </p:nvSpPr>
        <p:spPr>
          <a:xfrm>
            <a:off x="548640" y="1783080"/>
            <a:ext cx="2072579" cy="3611880"/>
          </a:xfrm>
          <a:prstGeom prst="roundRect">
            <a:avLst>
              <a:gd name="adj" fmla="val 3530"/>
            </a:avLst>
          </a:prstGeom>
          <a:solidFill>
            <a:schemeClr val="bg2"/>
          </a:solidFill>
          <a:ln w="12700">
            <a:solidFill>
              <a:schemeClr val="bg2"/>
            </a:solidFill>
            <a:prstDash val="solid"/>
          </a:ln>
        </p:spPr>
      </p:sp>
      <p:sp>
        <p:nvSpPr>
          <p:cNvPr id="5" name="ru-a-top-000"/>
          <p:cNvSpPr/>
          <p:nvPr/>
        </p:nvSpPr>
        <p:spPr>
          <a:xfrm>
            <a:off x="915442" y="2029968"/>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6" name="ru-a-top-010"/>
          <p:cNvSpPr/>
          <p:nvPr/>
        </p:nvSpPr>
        <p:spPr>
          <a:xfrm>
            <a:off x="800621" y="209626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7" name="ru-a-top-020"/>
          <p:cNvSpPr/>
          <p:nvPr/>
        </p:nvSpPr>
        <p:spPr>
          <a:xfrm>
            <a:off x="685800"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8" name="ru-a-top-100"/>
          <p:cNvSpPr/>
          <p:nvPr/>
        </p:nvSpPr>
        <p:spPr>
          <a:xfrm>
            <a:off x="1030264" y="209626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9" name="ru-a-top-110"/>
          <p:cNvSpPr/>
          <p:nvPr/>
        </p:nvSpPr>
        <p:spPr>
          <a:xfrm>
            <a:off x="915442"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10" name="ru-a-top-120"/>
          <p:cNvSpPr/>
          <p:nvPr/>
        </p:nvSpPr>
        <p:spPr>
          <a:xfrm>
            <a:off x="800621" y="222885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11" name="ru-a-top-200"/>
          <p:cNvSpPr/>
          <p:nvPr/>
        </p:nvSpPr>
        <p:spPr>
          <a:xfrm>
            <a:off x="1145085"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12" name="ru-a-top-210"/>
          <p:cNvSpPr/>
          <p:nvPr/>
        </p:nvSpPr>
        <p:spPr>
          <a:xfrm>
            <a:off x="1030264" y="222885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13" name="ru-a-top-220"/>
          <p:cNvSpPr/>
          <p:nvPr/>
        </p:nvSpPr>
        <p:spPr>
          <a:xfrm>
            <a:off x="915442" y="229514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14" name="ru-a-left-020"/>
          <p:cNvSpPr/>
          <p:nvPr/>
        </p:nvSpPr>
        <p:spPr>
          <a:xfrm>
            <a:off x="685800" y="2228850"/>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15" name="ru-a-left-021"/>
          <p:cNvSpPr/>
          <p:nvPr/>
        </p:nvSpPr>
        <p:spPr>
          <a:xfrm>
            <a:off x="685800" y="2361438"/>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16" name="ru-a-left-022"/>
          <p:cNvSpPr/>
          <p:nvPr/>
        </p:nvSpPr>
        <p:spPr>
          <a:xfrm>
            <a:off x="685800" y="2494026"/>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17" name="ru-a-left-120"/>
          <p:cNvSpPr/>
          <p:nvPr/>
        </p:nvSpPr>
        <p:spPr>
          <a:xfrm>
            <a:off x="800621" y="2295144"/>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18" name="ru-a-left-121"/>
          <p:cNvSpPr/>
          <p:nvPr/>
        </p:nvSpPr>
        <p:spPr>
          <a:xfrm>
            <a:off x="800621" y="2427732"/>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19" name="ru-a-left-122"/>
          <p:cNvSpPr/>
          <p:nvPr/>
        </p:nvSpPr>
        <p:spPr>
          <a:xfrm>
            <a:off x="800621" y="2560320"/>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20" name="ru-a-left-220"/>
          <p:cNvSpPr/>
          <p:nvPr/>
        </p:nvSpPr>
        <p:spPr>
          <a:xfrm>
            <a:off x="915442" y="2361438"/>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21" name="ru-a-left-221"/>
          <p:cNvSpPr/>
          <p:nvPr/>
        </p:nvSpPr>
        <p:spPr>
          <a:xfrm>
            <a:off x="915442" y="2494026"/>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22" name="ru-a-left-222"/>
          <p:cNvSpPr/>
          <p:nvPr/>
        </p:nvSpPr>
        <p:spPr>
          <a:xfrm>
            <a:off x="915442" y="2626614"/>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1">
              <a:alpha val="28000"/>
            </a:schemeClr>
          </a:solidFill>
          <a:ln w="9525">
            <a:solidFill>
              <a:schemeClr val="bg1"/>
            </a:solidFill>
            <a:prstDash val="solid"/>
          </a:ln>
        </p:spPr>
      </p:sp>
      <p:sp>
        <p:nvSpPr>
          <p:cNvPr id="23" name="ru-a-right-200"/>
          <p:cNvSpPr/>
          <p:nvPr/>
        </p:nvSpPr>
        <p:spPr>
          <a:xfrm>
            <a:off x="1259906" y="2228850"/>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4" name="ru-a-right-201"/>
          <p:cNvSpPr/>
          <p:nvPr/>
        </p:nvSpPr>
        <p:spPr>
          <a:xfrm>
            <a:off x="1259906" y="2361438"/>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5" name="ru-a-right-202"/>
          <p:cNvSpPr/>
          <p:nvPr/>
        </p:nvSpPr>
        <p:spPr>
          <a:xfrm>
            <a:off x="1259906" y="2494026"/>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6" name="ru-a-right-210"/>
          <p:cNvSpPr/>
          <p:nvPr/>
        </p:nvSpPr>
        <p:spPr>
          <a:xfrm>
            <a:off x="1145085" y="2295144"/>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7" name="ru-a-right-211"/>
          <p:cNvSpPr/>
          <p:nvPr/>
        </p:nvSpPr>
        <p:spPr>
          <a:xfrm>
            <a:off x="1145085" y="2427732"/>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8" name="ru-a-right-212"/>
          <p:cNvSpPr/>
          <p:nvPr/>
        </p:nvSpPr>
        <p:spPr>
          <a:xfrm>
            <a:off x="1145085" y="2560320"/>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29" name="ru-a-right-220"/>
          <p:cNvSpPr/>
          <p:nvPr/>
        </p:nvSpPr>
        <p:spPr>
          <a:xfrm>
            <a:off x="1030264" y="2361438"/>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30" name="ru-a-right-221"/>
          <p:cNvSpPr/>
          <p:nvPr/>
        </p:nvSpPr>
        <p:spPr>
          <a:xfrm>
            <a:off x="1030264" y="2494026"/>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31" name="ru-a-right-222"/>
          <p:cNvSpPr/>
          <p:nvPr/>
        </p:nvSpPr>
        <p:spPr>
          <a:xfrm>
            <a:off x="1030264" y="2626614"/>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1">
              <a:alpha val="44000"/>
            </a:schemeClr>
          </a:solidFill>
          <a:ln w="9525">
            <a:solidFill>
              <a:schemeClr val="bg1"/>
            </a:solidFill>
            <a:prstDash val="solid"/>
          </a:ln>
        </p:spPr>
      </p:sp>
      <p:sp>
        <p:nvSpPr>
          <p:cNvPr id="32" name="Shape 30"/>
          <p:cNvSpPr/>
          <p:nvPr/>
        </p:nvSpPr>
        <p:spPr>
          <a:xfrm>
            <a:off x="1429591" y="2514600"/>
            <a:ext cx="310677" cy="0"/>
          </a:xfrm>
          <a:prstGeom prst="line">
            <a:avLst/>
          </a:prstGeom>
          <a:noFill/>
          <a:ln w="22225">
            <a:solidFill>
              <a:schemeClr val="accent3"/>
            </a:solidFill>
            <a:prstDash val="solid"/>
            <a:tailEnd type="triangle"/>
          </a:ln>
        </p:spPr>
      </p:sp>
      <p:sp>
        <p:nvSpPr>
          <p:cNvPr id="33" name="ru-b-top-000"/>
          <p:cNvSpPr/>
          <p:nvPr/>
        </p:nvSpPr>
        <p:spPr>
          <a:xfrm>
            <a:off x="2024774" y="217627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4" name="ru-b-top-010"/>
          <p:cNvSpPr/>
          <p:nvPr/>
        </p:nvSpPr>
        <p:spPr>
          <a:xfrm>
            <a:off x="1909953" y="224256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5" name="ru-b-top-020"/>
          <p:cNvSpPr/>
          <p:nvPr/>
        </p:nvSpPr>
        <p:spPr>
          <a:xfrm>
            <a:off x="1795132"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6" name="ru-b-top-100"/>
          <p:cNvSpPr/>
          <p:nvPr/>
        </p:nvSpPr>
        <p:spPr>
          <a:xfrm>
            <a:off x="2139595" y="224256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7" name="ru-b-top-110"/>
          <p:cNvSpPr/>
          <p:nvPr/>
        </p:nvSpPr>
        <p:spPr>
          <a:xfrm>
            <a:off x="2024774"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8" name="ru-b-top-120"/>
          <p:cNvSpPr/>
          <p:nvPr/>
        </p:nvSpPr>
        <p:spPr>
          <a:xfrm>
            <a:off x="1909953" y="237515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39" name="ru-b-top-200"/>
          <p:cNvSpPr/>
          <p:nvPr/>
        </p:nvSpPr>
        <p:spPr>
          <a:xfrm>
            <a:off x="2254417"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40" name="ru-b-top-210"/>
          <p:cNvSpPr/>
          <p:nvPr/>
        </p:nvSpPr>
        <p:spPr>
          <a:xfrm>
            <a:off x="2139595" y="237515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41" name="ru-b-top-220"/>
          <p:cNvSpPr/>
          <p:nvPr/>
        </p:nvSpPr>
        <p:spPr>
          <a:xfrm>
            <a:off x="2024774" y="2441448"/>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42" name="ru-b-left-020"/>
          <p:cNvSpPr/>
          <p:nvPr/>
        </p:nvSpPr>
        <p:spPr>
          <a:xfrm>
            <a:off x="1795132" y="2375154"/>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3">
              <a:alpha val="88000"/>
            </a:schemeClr>
          </a:solidFill>
          <a:ln w="9525">
            <a:solidFill>
              <a:schemeClr val="bg1"/>
            </a:solidFill>
            <a:prstDash val="solid"/>
          </a:ln>
        </p:spPr>
      </p:sp>
      <p:sp>
        <p:nvSpPr>
          <p:cNvPr id="43" name="ru-b-left-120"/>
          <p:cNvSpPr/>
          <p:nvPr/>
        </p:nvSpPr>
        <p:spPr>
          <a:xfrm>
            <a:off x="1909953" y="2441448"/>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3">
              <a:alpha val="88000"/>
            </a:schemeClr>
          </a:solidFill>
          <a:ln w="9525">
            <a:solidFill>
              <a:schemeClr val="bg1"/>
            </a:solidFill>
            <a:prstDash val="solid"/>
          </a:ln>
        </p:spPr>
      </p:sp>
      <p:sp>
        <p:nvSpPr>
          <p:cNvPr id="44" name="ru-b-left-220"/>
          <p:cNvSpPr/>
          <p:nvPr/>
        </p:nvSpPr>
        <p:spPr>
          <a:xfrm>
            <a:off x="2024774" y="2507742"/>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3">
              <a:alpha val="88000"/>
            </a:schemeClr>
          </a:solidFill>
          <a:ln w="9525">
            <a:solidFill>
              <a:schemeClr val="bg1"/>
            </a:solidFill>
            <a:prstDash val="solid"/>
          </a:ln>
        </p:spPr>
      </p:sp>
      <p:sp>
        <p:nvSpPr>
          <p:cNvPr id="45" name="ru-b-right-200"/>
          <p:cNvSpPr/>
          <p:nvPr/>
        </p:nvSpPr>
        <p:spPr>
          <a:xfrm>
            <a:off x="2369238" y="2375154"/>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3"/>
          </a:solidFill>
          <a:ln w="9525">
            <a:solidFill>
              <a:schemeClr val="bg1"/>
            </a:solidFill>
            <a:prstDash val="solid"/>
          </a:ln>
        </p:spPr>
      </p:sp>
      <p:sp>
        <p:nvSpPr>
          <p:cNvPr id="46" name="ru-b-right-210"/>
          <p:cNvSpPr/>
          <p:nvPr/>
        </p:nvSpPr>
        <p:spPr>
          <a:xfrm>
            <a:off x="2254417" y="2441448"/>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3"/>
          </a:solidFill>
          <a:ln w="9525">
            <a:solidFill>
              <a:schemeClr val="bg1"/>
            </a:solidFill>
            <a:prstDash val="solid"/>
          </a:ln>
        </p:spPr>
      </p:sp>
      <p:sp>
        <p:nvSpPr>
          <p:cNvPr id="47" name="ru-b-right-220"/>
          <p:cNvSpPr/>
          <p:nvPr/>
        </p:nvSpPr>
        <p:spPr>
          <a:xfrm>
            <a:off x="2139595" y="2507742"/>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3"/>
          </a:solidFill>
          <a:ln w="9525">
            <a:solidFill>
              <a:schemeClr val="bg1"/>
            </a:solidFill>
            <a:prstDash val="solid"/>
          </a:ln>
        </p:spPr>
      </p:sp>
      <p:sp>
        <p:nvSpPr>
          <p:cNvPr id="48" name="Text 46"/>
          <p:cNvSpPr txBox="1"/>
          <p:nvPr/>
        </p:nvSpPr>
        <p:spPr>
          <a:xfrm>
            <a:off x="713232" y="3246120"/>
            <a:ext cx="1743395" cy="329184"/>
          </a:xfrm>
          <a:prstGeom prst="rect">
            <a:avLst/>
          </a:prstGeom>
          <a:noFill/>
          <a:ln/>
        </p:spPr>
        <p:txBody>
          <a:bodyPr wrap="square" lIns="0" tIns="0" rIns="0" bIns="0" rtlCol="0" anchor="ctr"/>
          <a:lstStyle/>
          <a:p>
            <a:pPr marL="0" indent="0">
              <a:buNone/>
            </a:pPr>
            <a:r>
              <a:rPr lang="en-US" sz="1900" b="1" dirty="0">
                <a:solidFill>
                  <a:schemeClr val="tx1"/>
                </a:solidFill>
              </a:rPr>
              <a:t>Roll-up</a:t>
            </a:r>
            <a:endParaRPr lang="en-US" sz="1900" dirty="0"/>
          </a:p>
        </p:txBody>
      </p:sp>
      <p:sp>
        <p:nvSpPr>
          <p:cNvPr id="49" name="Text 47"/>
          <p:cNvSpPr txBox="1"/>
          <p:nvPr/>
        </p:nvSpPr>
        <p:spPr>
          <a:xfrm>
            <a:off x="713232" y="3611880"/>
            <a:ext cx="1743395" cy="731520"/>
          </a:xfrm>
          <a:prstGeom prst="rect">
            <a:avLst/>
          </a:prstGeom>
          <a:noFill/>
          <a:ln/>
        </p:spPr>
        <p:txBody>
          <a:bodyPr wrap="square" lIns="0" tIns="0" rIns="0" bIns="0" rtlCol="0" anchor="t"/>
          <a:lstStyle/>
          <a:p>
            <a:pPr marL="0" indent="0">
              <a:buNone/>
            </a:pPr>
            <a:r>
              <a:rPr lang="en-US" sz="1250" dirty="0">
                <a:solidFill>
                  <a:schemeClr val="accent4"/>
                </a:solidFill>
              </a:rPr>
              <a:t>Climb a hierarchy or drop a dimension: detail becomes summary.</a:t>
            </a:r>
            <a:endParaRPr lang="en-US" sz="1250" dirty="0"/>
          </a:p>
        </p:txBody>
      </p:sp>
      <p:sp>
        <p:nvSpPr>
          <p:cNvPr id="50" name="ex-Roll-up"/>
          <p:cNvSpPr/>
          <p:nvPr/>
        </p:nvSpPr>
        <p:spPr>
          <a:xfrm>
            <a:off x="658368" y="4453128"/>
            <a:ext cx="1853123" cy="822960"/>
          </a:xfrm>
          <a:prstGeom prst="roundRect">
            <a:avLst>
              <a:gd name="adj" fmla="val 8889"/>
            </a:avLst>
          </a:prstGeom>
          <a:solidFill>
            <a:schemeClr val="bg1"/>
          </a:solidFill>
          <a:ln w="12700">
            <a:solidFill>
              <a:schemeClr val="bg1"/>
            </a:solidFill>
            <a:prstDash val="solid"/>
          </a:ln>
        </p:spPr>
      </p:sp>
      <p:sp>
        <p:nvSpPr>
          <p:cNvPr id="51" name="Text 49"/>
          <p:cNvSpPr txBox="1"/>
          <p:nvPr/>
        </p:nvSpPr>
        <p:spPr>
          <a:xfrm>
            <a:off x="749808" y="4453128"/>
            <a:ext cx="1670243" cy="822960"/>
          </a:xfrm>
          <a:prstGeom prst="rect">
            <a:avLst/>
          </a:prstGeom>
          <a:noFill/>
          <a:ln/>
        </p:spPr>
        <p:txBody>
          <a:bodyPr wrap="square" lIns="0" tIns="0" rIns="0" bIns="0" rtlCol="0" anchor="ctr"/>
          <a:lstStyle/>
          <a:p>
            <a:pPr marL="0" indent="0">
              <a:buNone/>
            </a:pPr>
            <a:r>
              <a:rPr lang="en-US" sz="1150" b="1" dirty="0">
                <a:solidFill>
                  <a:schemeClr val="tx1"/>
                </a:solidFill>
              </a:rPr>
              <a:t>Month → Quarter</a:t>
            </a:r>
            <a:endParaRPr lang="en-US" sz="1150" dirty="0"/>
          </a:p>
          <a:p>
            <a:pPr marL="0" indent="0">
              <a:buNone/>
            </a:pPr>
            <a:r>
              <a:rPr lang="en-US" sz="1150" b="1" dirty="0">
                <a:solidFill>
                  <a:schemeClr val="tx1"/>
                </a:solidFill>
              </a:rPr>
              <a:t>Phone, Chennai: 8 + 9 + 10 = ₹27 L</a:t>
            </a:r>
            <a:endParaRPr lang="en-US" sz="1150" dirty="0"/>
          </a:p>
        </p:txBody>
      </p:sp>
      <p:sp>
        <p:nvSpPr>
          <p:cNvPr id="52" name="op-Drill-down"/>
          <p:cNvSpPr/>
          <p:nvPr/>
        </p:nvSpPr>
        <p:spPr>
          <a:xfrm>
            <a:off x="2804099" y="1783080"/>
            <a:ext cx="2072579" cy="3611880"/>
          </a:xfrm>
          <a:prstGeom prst="roundRect">
            <a:avLst>
              <a:gd name="adj" fmla="val 3530"/>
            </a:avLst>
          </a:prstGeom>
          <a:solidFill>
            <a:schemeClr val="bg2"/>
          </a:solidFill>
          <a:ln w="12700">
            <a:solidFill>
              <a:schemeClr val="bg2"/>
            </a:solidFill>
            <a:prstDash val="solid"/>
          </a:ln>
        </p:spPr>
      </p:sp>
      <p:sp>
        <p:nvSpPr>
          <p:cNvPr id="53" name="dd-a-top-000"/>
          <p:cNvSpPr/>
          <p:nvPr/>
        </p:nvSpPr>
        <p:spPr>
          <a:xfrm>
            <a:off x="3170901" y="217627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4" name="dd-a-top-010"/>
          <p:cNvSpPr/>
          <p:nvPr/>
        </p:nvSpPr>
        <p:spPr>
          <a:xfrm>
            <a:off x="3056080" y="224256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5" name="dd-a-top-020"/>
          <p:cNvSpPr/>
          <p:nvPr/>
        </p:nvSpPr>
        <p:spPr>
          <a:xfrm>
            <a:off x="2941259"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6" name="dd-a-top-100"/>
          <p:cNvSpPr/>
          <p:nvPr/>
        </p:nvSpPr>
        <p:spPr>
          <a:xfrm>
            <a:off x="3285723" y="224256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7" name="dd-a-top-110"/>
          <p:cNvSpPr/>
          <p:nvPr/>
        </p:nvSpPr>
        <p:spPr>
          <a:xfrm>
            <a:off x="3170901"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8" name="dd-a-top-120"/>
          <p:cNvSpPr/>
          <p:nvPr/>
        </p:nvSpPr>
        <p:spPr>
          <a:xfrm>
            <a:off x="3056080" y="237515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59" name="dd-a-top-200"/>
          <p:cNvSpPr/>
          <p:nvPr/>
        </p:nvSpPr>
        <p:spPr>
          <a:xfrm>
            <a:off x="3400544" y="230886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60" name="dd-a-top-210"/>
          <p:cNvSpPr/>
          <p:nvPr/>
        </p:nvSpPr>
        <p:spPr>
          <a:xfrm>
            <a:off x="3285723" y="237515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61" name="dd-a-top-220"/>
          <p:cNvSpPr/>
          <p:nvPr/>
        </p:nvSpPr>
        <p:spPr>
          <a:xfrm>
            <a:off x="3170901" y="2441448"/>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1">
              <a:alpha val="14000"/>
            </a:schemeClr>
          </a:solidFill>
          <a:ln w="9525">
            <a:solidFill>
              <a:schemeClr val="bg1"/>
            </a:solidFill>
            <a:prstDash val="solid"/>
          </a:ln>
        </p:spPr>
      </p:sp>
      <p:sp>
        <p:nvSpPr>
          <p:cNvPr id="62" name="dd-a-left-020"/>
          <p:cNvSpPr/>
          <p:nvPr/>
        </p:nvSpPr>
        <p:spPr>
          <a:xfrm>
            <a:off x="2941259" y="2375154"/>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1">
              <a:alpha val="28000"/>
            </a:schemeClr>
          </a:solidFill>
          <a:ln w="9525">
            <a:solidFill>
              <a:schemeClr val="bg1"/>
            </a:solidFill>
            <a:prstDash val="solid"/>
          </a:ln>
        </p:spPr>
      </p:sp>
      <p:sp>
        <p:nvSpPr>
          <p:cNvPr id="63" name="dd-a-left-120"/>
          <p:cNvSpPr/>
          <p:nvPr/>
        </p:nvSpPr>
        <p:spPr>
          <a:xfrm>
            <a:off x="3056080" y="2441448"/>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1">
              <a:alpha val="28000"/>
            </a:schemeClr>
          </a:solidFill>
          <a:ln w="9525">
            <a:solidFill>
              <a:schemeClr val="bg1"/>
            </a:solidFill>
            <a:prstDash val="solid"/>
          </a:ln>
        </p:spPr>
      </p:sp>
      <p:sp>
        <p:nvSpPr>
          <p:cNvPr id="64" name="dd-a-left-220"/>
          <p:cNvSpPr/>
          <p:nvPr/>
        </p:nvSpPr>
        <p:spPr>
          <a:xfrm>
            <a:off x="3170901" y="2507742"/>
            <a:ext cx="114821" cy="249174"/>
          </a:xfrm>
          <a:custGeom>
            <a:avLst/>
            <a:gdLst/>
            <a:ahLst/>
            <a:cxnLst/>
            <a:rect l="l" t="t" r="r" b="b"/>
            <a:pathLst>
              <a:path w="114821" h="249174">
                <a:moveTo>
                  <a:pt x="0" y="0"/>
                </a:moveTo>
                <a:lnTo>
                  <a:pt x="114821" y="66294"/>
                </a:lnTo>
                <a:lnTo>
                  <a:pt x="114821" y="249174"/>
                </a:lnTo>
                <a:lnTo>
                  <a:pt x="0" y="182880"/>
                </a:lnTo>
                <a:close/>
              </a:path>
            </a:pathLst>
          </a:custGeom>
          <a:solidFill>
            <a:schemeClr val="accent1">
              <a:alpha val="28000"/>
            </a:schemeClr>
          </a:solidFill>
          <a:ln w="9525">
            <a:solidFill>
              <a:schemeClr val="bg1"/>
            </a:solidFill>
            <a:prstDash val="solid"/>
          </a:ln>
        </p:spPr>
      </p:sp>
      <p:sp>
        <p:nvSpPr>
          <p:cNvPr id="65" name="dd-a-right-200"/>
          <p:cNvSpPr/>
          <p:nvPr/>
        </p:nvSpPr>
        <p:spPr>
          <a:xfrm>
            <a:off x="3515365" y="2375154"/>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1">
              <a:alpha val="44000"/>
            </a:schemeClr>
          </a:solidFill>
          <a:ln w="9525">
            <a:solidFill>
              <a:schemeClr val="bg1"/>
            </a:solidFill>
            <a:prstDash val="solid"/>
          </a:ln>
        </p:spPr>
      </p:sp>
      <p:sp>
        <p:nvSpPr>
          <p:cNvPr id="66" name="dd-a-right-210"/>
          <p:cNvSpPr/>
          <p:nvPr/>
        </p:nvSpPr>
        <p:spPr>
          <a:xfrm>
            <a:off x="3400544" y="2441448"/>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1">
              <a:alpha val="44000"/>
            </a:schemeClr>
          </a:solidFill>
          <a:ln w="9525">
            <a:solidFill>
              <a:schemeClr val="bg1"/>
            </a:solidFill>
            <a:prstDash val="solid"/>
          </a:ln>
        </p:spPr>
      </p:sp>
      <p:sp>
        <p:nvSpPr>
          <p:cNvPr id="67" name="dd-a-right-220"/>
          <p:cNvSpPr/>
          <p:nvPr/>
        </p:nvSpPr>
        <p:spPr>
          <a:xfrm>
            <a:off x="3285723" y="2507742"/>
            <a:ext cx="114821" cy="249174"/>
          </a:xfrm>
          <a:custGeom>
            <a:avLst/>
            <a:gdLst/>
            <a:ahLst/>
            <a:cxnLst/>
            <a:rect l="l" t="t" r="r" b="b"/>
            <a:pathLst>
              <a:path w="114821" h="249174">
                <a:moveTo>
                  <a:pt x="114821" y="0"/>
                </a:moveTo>
                <a:lnTo>
                  <a:pt x="0" y="66294"/>
                </a:lnTo>
                <a:lnTo>
                  <a:pt x="0" y="249174"/>
                </a:lnTo>
                <a:lnTo>
                  <a:pt x="114821" y="182880"/>
                </a:lnTo>
                <a:close/>
              </a:path>
            </a:pathLst>
          </a:custGeom>
          <a:solidFill>
            <a:schemeClr val="accent1">
              <a:alpha val="44000"/>
            </a:schemeClr>
          </a:solidFill>
          <a:ln w="9525">
            <a:solidFill>
              <a:schemeClr val="bg1"/>
            </a:solidFill>
            <a:prstDash val="solid"/>
          </a:ln>
        </p:spPr>
      </p:sp>
      <p:sp>
        <p:nvSpPr>
          <p:cNvPr id="68" name="Shape 66"/>
          <p:cNvSpPr/>
          <p:nvPr/>
        </p:nvSpPr>
        <p:spPr>
          <a:xfrm>
            <a:off x="3685050" y="2514600"/>
            <a:ext cx="310677" cy="0"/>
          </a:xfrm>
          <a:prstGeom prst="line">
            <a:avLst/>
          </a:prstGeom>
          <a:noFill/>
          <a:ln w="22225">
            <a:solidFill>
              <a:schemeClr val="accent3"/>
            </a:solidFill>
            <a:prstDash val="solid"/>
            <a:tailEnd type="triangle"/>
          </a:ln>
        </p:spPr>
      </p:sp>
      <p:sp>
        <p:nvSpPr>
          <p:cNvPr id="69" name="dd-b-top-000"/>
          <p:cNvSpPr/>
          <p:nvPr/>
        </p:nvSpPr>
        <p:spPr>
          <a:xfrm>
            <a:off x="4280233" y="2029968"/>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0" name="dd-b-top-010"/>
          <p:cNvSpPr/>
          <p:nvPr/>
        </p:nvSpPr>
        <p:spPr>
          <a:xfrm>
            <a:off x="4165412" y="209626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1" name="dd-b-top-020"/>
          <p:cNvSpPr/>
          <p:nvPr/>
        </p:nvSpPr>
        <p:spPr>
          <a:xfrm>
            <a:off x="4050591"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2" name="dd-b-top-100"/>
          <p:cNvSpPr/>
          <p:nvPr/>
        </p:nvSpPr>
        <p:spPr>
          <a:xfrm>
            <a:off x="4395054" y="2096262"/>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3" name="dd-b-top-110"/>
          <p:cNvSpPr/>
          <p:nvPr/>
        </p:nvSpPr>
        <p:spPr>
          <a:xfrm>
            <a:off x="4280233"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4" name="dd-b-top-120"/>
          <p:cNvSpPr/>
          <p:nvPr/>
        </p:nvSpPr>
        <p:spPr>
          <a:xfrm>
            <a:off x="4165412" y="222885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5" name="dd-b-top-200"/>
          <p:cNvSpPr/>
          <p:nvPr/>
        </p:nvSpPr>
        <p:spPr>
          <a:xfrm>
            <a:off x="4509876" y="2162556"/>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6" name="dd-b-top-210"/>
          <p:cNvSpPr/>
          <p:nvPr/>
        </p:nvSpPr>
        <p:spPr>
          <a:xfrm>
            <a:off x="4395054" y="2228850"/>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7" name="dd-b-top-220"/>
          <p:cNvSpPr/>
          <p:nvPr/>
        </p:nvSpPr>
        <p:spPr>
          <a:xfrm>
            <a:off x="4280233" y="2295144"/>
            <a:ext cx="229642" cy="132588"/>
          </a:xfrm>
          <a:custGeom>
            <a:avLst/>
            <a:gdLst/>
            <a:ahLst/>
            <a:cxnLst/>
            <a:rect l="l" t="t" r="r" b="b"/>
            <a:pathLst>
              <a:path w="229642" h="132588">
                <a:moveTo>
                  <a:pt x="114821" y="0"/>
                </a:moveTo>
                <a:lnTo>
                  <a:pt x="229642" y="66294"/>
                </a:lnTo>
                <a:lnTo>
                  <a:pt x="114821" y="132588"/>
                </a:lnTo>
                <a:lnTo>
                  <a:pt x="0" y="66294"/>
                </a:lnTo>
                <a:close/>
              </a:path>
            </a:pathLst>
          </a:custGeom>
          <a:solidFill>
            <a:schemeClr val="accent3">
              <a:alpha val="70000"/>
            </a:schemeClr>
          </a:solidFill>
          <a:ln w="9525">
            <a:solidFill>
              <a:schemeClr val="bg1"/>
            </a:solidFill>
            <a:prstDash val="solid"/>
          </a:ln>
        </p:spPr>
      </p:sp>
      <p:sp>
        <p:nvSpPr>
          <p:cNvPr id="78" name="dd-b-left-020"/>
          <p:cNvSpPr/>
          <p:nvPr/>
        </p:nvSpPr>
        <p:spPr>
          <a:xfrm>
            <a:off x="4050591" y="2228850"/>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79" name="dd-b-left-021"/>
          <p:cNvSpPr/>
          <p:nvPr/>
        </p:nvSpPr>
        <p:spPr>
          <a:xfrm>
            <a:off x="4050591" y="2361438"/>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0" name="dd-b-left-022"/>
          <p:cNvSpPr/>
          <p:nvPr/>
        </p:nvSpPr>
        <p:spPr>
          <a:xfrm>
            <a:off x="4050591" y="2494026"/>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1" name="dd-b-left-120"/>
          <p:cNvSpPr/>
          <p:nvPr/>
        </p:nvSpPr>
        <p:spPr>
          <a:xfrm>
            <a:off x="4165412" y="2295144"/>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2" name="dd-b-left-121"/>
          <p:cNvSpPr/>
          <p:nvPr/>
        </p:nvSpPr>
        <p:spPr>
          <a:xfrm>
            <a:off x="4165412" y="2427732"/>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3" name="dd-b-left-122"/>
          <p:cNvSpPr/>
          <p:nvPr/>
        </p:nvSpPr>
        <p:spPr>
          <a:xfrm>
            <a:off x="4165412" y="2560320"/>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4" name="dd-b-left-220"/>
          <p:cNvSpPr/>
          <p:nvPr/>
        </p:nvSpPr>
        <p:spPr>
          <a:xfrm>
            <a:off x="4280233" y="2361438"/>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5" name="dd-b-left-221"/>
          <p:cNvSpPr/>
          <p:nvPr/>
        </p:nvSpPr>
        <p:spPr>
          <a:xfrm>
            <a:off x="4280233" y="2494026"/>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6" name="dd-b-left-222"/>
          <p:cNvSpPr/>
          <p:nvPr/>
        </p:nvSpPr>
        <p:spPr>
          <a:xfrm>
            <a:off x="4280233" y="2626614"/>
            <a:ext cx="114821" cy="198882"/>
          </a:xfrm>
          <a:custGeom>
            <a:avLst/>
            <a:gdLst/>
            <a:ahLst/>
            <a:cxnLst/>
            <a:rect l="l" t="t" r="r" b="b"/>
            <a:pathLst>
              <a:path w="114821" h="198882">
                <a:moveTo>
                  <a:pt x="0" y="0"/>
                </a:moveTo>
                <a:lnTo>
                  <a:pt x="114821" y="66294"/>
                </a:lnTo>
                <a:lnTo>
                  <a:pt x="114821" y="198882"/>
                </a:lnTo>
                <a:lnTo>
                  <a:pt x="0" y="132588"/>
                </a:lnTo>
                <a:close/>
              </a:path>
            </a:pathLst>
          </a:custGeom>
          <a:solidFill>
            <a:schemeClr val="accent3">
              <a:alpha val="88000"/>
            </a:schemeClr>
          </a:solidFill>
          <a:ln w="9525">
            <a:solidFill>
              <a:schemeClr val="bg1"/>
            </a:solidFill>
            <a:prstDash val="solid"/>
          </a:ln>
        </p:spPr>
      </p:sp>
      <p:sp>
        <p:nvSpPr>
          <p:cNvPr id="87" name="dd-b-right-200"/>
          <p:cNvSpPr/>
          <p:nvPr/>
        </p:nvSpPr>
        <p:spPr>
          <a:xfrm>
            <a:off x="4624697" y="2228850"/>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88" name="dd-b-right-201"/>
          <p:cNvSpPr/>
          <p:nvPr/>
        </p:nvSpPr>
        <p:spPr>
          <a:xfrm>
            <a:off x="4624697" y="2361438"/>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89" name="dd-b-right-202"/>
          <p:cNvSpPr/>
          <p:nvPr/>
        </p:nvSpPr>
        <p:spPr>
          <a:xfrm>
            <a:off x="4624697" y="2494026"/>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0" name="dd-b-right-210"/>
          <p:cNvSpPr/>
          <p:nvPr/>
        </p:nvSpPr>
        <p:spPr>
          <a:xfrm>
            <a:off x="4509876" y="2295144"/>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1" name="dd-b-right-211"/>
          <p:cNvSpPr/>
          <p:nvPr/>
        </p:nvSpPr>
        <p:spPr>
          <a:xfrm>
            <a:off x="4509876" y="2427732"/>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2" name="dd-b-right-212"/>
          <p:cNvSpPr/>
          <p:nvPr/>
        </p:nvSpPr>
        <p:spPr>
          <a:xfrm>
            <a:off x="4509876" y="2560320"/>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3" name="dd-b-right-220"/>
          <p:cNvSpPr/>
          <p:nvPr/>
        </p:nvSpPr>
        <p:spPr>
          <a:xfrm>
            <a:off x="4395054" y="2361438"/>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4" name="dd-b-right-221"/>
          <p:cNvSpPr/>
          <p:nvPr/>
        </p:nvSpPr>
        <p:spPr>
          <a:xfrm>
            <a:off x="4395054" y="2494026"/>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5" name="dd-b-right-222"/>
          <p:cNvSpPr/>
          <p:nvPr/>
        </p:nvSpPr>
        <p:spPr>
          <a:xfrm>
            <a:off x="4395054" y="2626614"/>
            <a:ext cx="114821" cy="198882"/>
          </a:xfrm>
          <a:custGeom>
            <a:avLst/>
            <a:gdLst/>
            <a:ahLst/>
            <a:cxnLst/>
            <a:rect l="l" t="t" r="r" b="b"/>
            <a:pathLst>
              <a:path w="114821" h="198882">
                <a:moveTo>
                  <a:pt x="114821" y="0"/>
                </a:moveTo>
                <a:lnTo>
                  <a:pt x="0" y="66294"/>
                </a:lnTo>
                <a:lnTo>
                  <a:pt x="0" y="198882"/>
                </a:lnTo>
                <a:lnTo>
                  <a:pt x="114821" y="132588"/>
                </a:lnTo>
                <a:close/>
              </a:path>
            </a:pathLst>
          </a:custGeom>
          <a:solidFill>
            <a:schemeClr val="accent3"/>
          </a:solidFill>
          <a:ln w="9525">
            <a:solidFill>
              <a:schemeClr val="bg1"/>
            </a:solidFill>
            <a:prstDash val="solid"/>
          </a:ln>
        </p:spPr>
      </p:sp>
      <p:sp>
        <p:nvSpPr>
          <p:cNvPr id="96" name="Text 94"/>
          <p:cNvSpPr txBox="1"/>
          <p:nvPr/>
        </p:nvSpPr>
        <p:spPr>
          <a:xfrm>
            <a:off x="2968691" y="3246120"/>
            <a:ext cx="1743395" cy="329184"/>
          </a:xfrm>
          <a:prstGeom prst="rect">
            <a:avLst/>
          </a:prstGeom>
          <a:noFill/>
          <a:ln/>
        </p:spPr>
        <p:txBody>
          <a:bodyPr wrap="square" lIns="0" tIns="0" rIns="0" bIns="0" rtlCol="0" anchor="ctr"/>
          <a:lstStyle/>
          <a:p>
            <a:pPr marL="0" indent="0">
              <a:buNone/>
            </a:pPr>
            <a:r>
              <a:rPr lang="en-US" sz="1900" b="1" dirty="0">
                <a:solidFill>
                  <a:schemeClr val="tx1"/>
                </a:solidFill>
              </a:rPr>
              <a:t>Drill-down</a:t>
            </a:r>
            <a:endParaRPr lang="en-US" sz="1900" dirty="0"/>
          </a:p>
        </p:txBody>
      </p:sp>
      <p:sp>
        <p:nvSpPr>
          <p:cNvPr id="97" name="Text 95"/>
          <p:cNvSpPr txBox="1"/>
          <p:nvPr/>
        </p:nvSpPr>
        <p:spPr>
          <a:xfrm>
            <a:off x="2968691" y="3611880"/>
            <a:ext cx="1743395" cy="731520"/>
          </a:xfrm>
          <a:prstGeom prst="rect">
            <a:avLst/>
          </a:prstGeom>
          <a:noFill/>
          <a:ln/>
        </p:spPr>
        <p:txBody>
          <a:bodyPr wrap="square" lIns="0" tIns="0" rIns="0" bIns="0" rtlCol="0" anchor="t"/>
          <a:lstStyle/>
          <a:p>
            <a:pPr marL="0" indent="0">
              <a:buNone/>
            </a:pPr>
            <a:r>
              <a:rPr lang="en-US" sz="1250" dirty="0">
                <a:solidFill>
                  <a:schemeClr val="accent4"/>
                </a:solidFill>
              </a:rPr>
              <a:t>Step down a hierarchy: summary opens into detail.</a:t>
            </a:r>
            <a:endParaRPr lang="en-US" sz="1250" dirty="0"/>
          </a:p>
        </p:txBody>
      </p:sp>
      <p:sp>
        <p:nvSpPr>
          <p:cNvPr id="98" name="ex-Drill-down"/>
          <p:cNvSpPr/>
          <p:nvPr/>
        </p:nvSpPr>
        <p:spPr>
          <a:xfrm>
            <a:off x="2913827" y="4453128"/>
            <a:ext cx="1853123" cy="822960"/>
          </a:xfrm>
          <a:prstGeom prst="roundRect">
            <a:avLst>
              <a:gd name="adj" fmla="val 8889"/>
            </a:avLst>
          </a:prstGeom>
          <a:solidFill>
            <a:schemeClr val="bg1"/>
          </a:solidFill>
          <a:ln w="12700">
            <a:solidFill>
              <a:schemeClr val="bg1"/>
            </a:solidFill>
            <a:prstDash val="solid"/>
          </a:ln>
        </p:spPr>
      </p:sp>
      <p:sp>
        <p:nvSpPr>
          <p:cNvPr id="99" name="Text 97"/>
          <p:cNvSpPr txBox="1"/>
          <p:nvPr/>
        </p:nvSpPr>
        <p:spPr>
          <a:xfrm>
            <a:off x="3005267" y="4453128"/>
            <a:ext cx="1670243" cy="822960"/>
          </a:xfrm>
          <a:prstGeom prst="rect">
            <a:avLst/>
          </a:prstGeom>
          <a:noFill/>
          <a:ln/>
        </p:spPr>
        <p:txBody>
          <a:bodyPr wrap="square" lIns="0" tIns="0" rIns="0" bIns="0" rtlCol="0" anchor="ctr"/>
          <a:lstStyle/>
          <a:p>
            <a:pPr marL="0" indent="0">
              <a:buNone/>
            </a:pPr>
            <a:r>
              <a:rPr lang="en-US" sz="1150" b="1" dirty="0">
                <a:solidFill>
                  <a:schemeClr val="tx1"/>
                </a:solidFill>
              </a:rPr>
              <a:t>Quarter → Month</a:t>
            </a:r>
            <a:endParaRPr lang="en-US" sz="1150" dirty="0"/>
          </a:p>
          <a:p>
            <a:pPr marL="0" indent="0">
              <a:buNone/>
            </a:pPr>
            <a:r>
              <a:rPr lang="en-US" sz="1150" b="1" dirty="0">
                <a:solidFill>
                  <a:schemeClr val="tx1"/>
                </a:solidFill>
              </a:rPr>
              <a:t>Laptop ₹56 L = 16 + 19 + 21</a:t>
            </a:r>
            <a:endParaRPr lang="en-US" sz="1150" dirty="0"/>
          </a:p>
        </p:txBody>
      </p:sp>
      <p:sp>
        <p:nvSpPr>
          <p:cNvPr id="100" name="op-Slice"/>
          <p:cNvSpPr/>
          <p:nvPr/>
        </p:nvSpPr>
        <p:spPr>
          <a:xfrm>
            <a:off x="5059558" y="1783080"/>
            <a:ext cx="2072579" cy="3611880"/>
          </a:xfrm>
          <a:prstGeom prst="roundRect">
            <a:avLst>
              <a:gd name="adj" fmla="val 3530"/>
            </a:avLst>
          </a:prstGeom>
          <a:solidFill>
            <a:schemeClr val="bg2"/>
          </a:solidFill>
          <a:ln w="12700">
            <a:solidFill>
              <a:schemeClr val="bg2"/>
            </a:solidFill>
            <a:prstDash val="solid"/>
          </a:ln>
        </p:spPr>
      </p:sp>
      <p:sp>
        <p:nvSpPr>
          <p:cNvPr id="101" name="slice-top-000"/>
          <p:cNvSpPr/>
          <p:nvPr/>
        </p:nvSpPr>
        <p:spPr>
          <a:xfrm>
            <a:off x="5937474" y="196596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2" name="slice-top-010"/>
          <p:cNvSpPr/>
          <p:nvPr/>
        </p:nvSpPr>
        <p:spPr>
          <a:xfrm>
            <a:off x="5779099" y="205740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3" name="slice-top-020"/>
          <p:cNvSpPr/>
          <p:nvPr/>
        </p:nvSpPr>
        <p:spPr>
          <a:xfrm>
            <a:off x="5620725"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4" name="slice-top-100"/>
          <p:cNvSpPr/>
          <p:nvPr/>
        </p:nvSpPr>
        <p:spPr>
          <a:xfrm>
            <a:off x="6095848" y="205740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5" name="slice-top-110"/>
          <p:cNvSpPr/>
          <p:nvPr/>
        </p:nvSpPr>
        <p:spPr>
          <a:xfrm>
            <a:off x="5937474"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6" name="slice-top-120"/>
          <p:cNvSpPr/>
          <p:nvPr/>
        </p:nvSpPr>
        <p:spPr>
          <a:xfrm>
            <a:off x="5779099" y="224028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7" name="slice-top-200"/>
          <p:cNvSpPr/>
          <p:nvPr/>
        </p:nvSpPr>
        <p:spPr>
          <a:xfrm>
            <a:off x="6254222"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8" name="slice-top-210"/>
          <p:cNvSpPr/>
          <p:nvPr/>
        </p:nvSpPr>
        <p:spPr>
          <a:xfrm>
            <a:off x="6095848" y="224028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09" name="slice-top-220"/>
          <p:cNvSpPr/>
          <p:nvPr/>
        </p:nvSpPr>
        <p:spPr>
          <a:xfrm>
            <a:off x="5937474" y="233172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10" name="slice-left-020"/>
          <p:cNvSpPr/>
          <p:nvPr/>
        </p:nvSpPr>
        <p:spPr>
          <a:xfrm>
            <a:off x="5620725" y="224028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1" name="slice-left-021"/>
          <p:cNvSpPr/>
          <p:nvPr/>
        </p:nvSpPr>
        <p:spPr>
          <a:xfrm>
            <a:off x="5620725" y="242316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12" name="slice-left-022"/>
          <p:cNvSpPr/>
          <p:nvPr/>
        </p:nvSpPr>
        <p:spPr>
          <a:xfrm>
            <a:off x="5620725" y="260604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3" name="slice-left-120"/>
          <p:cNvSpPr/>
          <p:nvPr/>
        </p:nvSpPr>
        <p:spPr>
          <a:xfrm>
            <a:off x="5779099" y="233172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4" name="slice-left-121"/>
          <p:cNvSpPr/>
          <p:nvPr/>
        </p:nvSpPr>
        <p:spPr>
          <a:xfrm>
            <a:off x="5779099" y="251460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15" name="slice-left-122"/>
          <p:cNvSpPr/>
          <p:nvPr/>
        </p:nvSpPr>
        <p:spPr>
          <a:xfrm>
            <a:off x="5779099" y="269748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6" name="slice-left-220"/>
          <p:cNvSpPr/>
          <p:nvPr/>
        </p:nvSpPr>
        <p:spPr>
          <a:xfrm>
            <a:off x="5937474" y="242316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7" name="slice-left-221"/>
          <p:cNvSpPr/>
          <p:nvPr/>
        </p:nvSpPr>
        <p:spPr>
          <a:xfrm>
            <a:off x="5937474" y="260604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18" name="slice-left-222"/>
          <p:cNvSpPr/>
          <p:nvPr/>
        </p:nvSpPr>
        <p:spPr>
          <a:xfrm>
            <a:off x="5937474" y="278892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19" name="slice-right-200"/>
          <p:cNvSpPr/>
          <p:nvPr/>
        </p:nvSpPr>
        <p:spPr>
          <a:xfrm>
            <a:off x="6412596" y="224028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0" name="slice-right-201"/>
          <p:cNvSpPr/>
          <p:nvPr/>
        </p:nvSpPr>
        <p:spPr>
          <a:xfrm>
            <a:off x="6412596" y="242316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21" name="slice-right-202"/>
          <p:cNvSpPr/>
          <p:nvPr/>
        </p:nvSpPr>
        <p:spPr>
          <a:xfrm>
            <a:off x="6412596" y="260604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2" name="slice-right-210"/>
          <p:cNvSpPr/>
          <p:nvPr/>
        </p:nvSpPr>
        <p:spPr>
          <a:xfrm>
            <a:off x="6254222" y="233172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3" name="slice-right-211"/>
          <p:cNvSpPr/>
          <p:nvPr/>
        </p:nvSpPr>
        <p:spPr>
          <a:xfrm>
            <a:off x="6254222" y="251460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24" name="slice-right-212"/>
          <p:cNvSpPr/>
          <p:nvPr/>
        </p:nvSpPr>
        <p:spPr>
          <a:xfrm>
            <a:off x="6254222" y="269748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5" name="slice-right-220"/>
          <p:cNvSpPr/>
          <p:nvPr/>
        </p:nvSpPr>
        <p:spPr>
          <a:xfrm>
            <a:off x="6095848" y="242316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6" name="slice-right-221"/>
          <p:cNvSpPr/>
          <p:nvPr/>
        </p:nvSpPr>
        <p:spPr>
          <a:xfrm>
            <a:off x="6095848" y="260604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27" name="slice-right-222"/>
          <p:cNvSpPr/>
          <p:nvPr/>
        </p:nvSpPr>
        <p:spPr>
          <a:xfrm>
            <a:off x="6095848" y="278892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28" name="Text 126"/>
          <p:cNvSpPr txBox="1"/>
          <p:nvPr/>
        </p:nvSpPr>
        <p:spPr>
          <a:xfrm>
            <a:off x="5224150" y="3246120"/>
            <a:ext cx="1743395" cy="329184"/>
          </a:xfrm>
          <a:prstGeom prst="rect">
            <a:avLst/>
          </a:prstGeom>
          <a:noFill/>
          <a:ln/>
        </p:spPr>
        <p:txBody>
          <a:bodyPr wrap="square" lIns="0" tIns="0" rIns="0" bIns="0" rtlCol="0" anchor="ctr"/>
          <a:lstStyle/>
          <a:p>
            <a:pPr marL="0" indent="0">
              <a:buNone/>
            </a:pPr>
            <a:r>
              <a:rPr lang="en-US" sz="1900" b="1" dirty="0">
                <a:solidFill>
                  <a:schemeClr val="tx1"/>
                </a:solidFill>
              </a:rPr>
              <a:t>Slice</a:t>
            </a:r>
            <a:endParaRPr lang="en-US" sz="1900" dirty="0"/>
          </a:p>
        </p:txBody>
      </p:sp>
      <p:sp>
        <p:nvSpPr>
          <p:cNvPr id="129" name="Text 127"/>
          <p:cNvSpPr txBox="1"/>
          <p:nvPr/>
        </p:nvSpPr>
        <p:spPr>
          <a:xfrm>
            <a:off x="5224150" y="3611880"/>
            <a:ext cx="1743395" cy="731520"/>
          </a:xfrm>
          <a:prstGeom prst="rect">
            <a:avLst/>
          </a:prstGeom>
          <a:noFill/>
          <a:ln/>
        </p:spPr>
        <p:txBody>
          <a:bodyPr wrap="square" lIns="0" tIns="0" rIns="0" bIns="0" rtlCol="0" anchor="t"/>
          <a:lstStyle/>
          <a:p>
            <a:pPr marL="0" indent="0">
              <a:buNone/>
            </a:pPr>
            <a:r>
              <a:rPr lang="en-US" sz="1250" dirty="0">
                <a:solidFill>
                  <a:schemeClr val="accent4"/>
                </a:solidFill>
              </a:rPr>
              <a:t>Fix one dimension to a single value to get a 2-D view.</a:t>
            </a:r>
            <a:endParaRPr lang="en-US" sz="1250" dirty="0"/>
          </a:p>
        </p:txBody>
      </p:sp>
      <p:sp>
        <p:nvSpPr>
          <p:cNvPr id="130" name="ex-Slice"/>
          <p:cNvSpPr/>
          <p:nvPr/>
        </p:nvSpPr>
        <p:spPr>
          <a:xfrm>
            <a:off x="5169286" y="4453128"/>
            <a:ext cx="1853123" cy="822960"/>
          </a:xfrm>
          <a:prstGeom prst="roundRect">
            <a:avLst>
              <a:gd name="adj" fmla="val 8889"/>
            </a:avLst>
          </a:prstGeom>
          <a:solidFill>
            <a:schemeClr val="bg1"/>
          </a:solidFill>
          <a:ln w="12700">
            <a:solidFill>
              <a:schemeClr val="bg1"/>
            </a:solidFill>
            <a:prstDash val="solid"/>
          </a:ln>
        </p:spPr>
      </p:sp>
      <p:sp>
        <p:nvSpPr>
          <p:cNvPr id="131" name="Text 129"/>
          <p:cNvSpPr txBox="1"/>
          <p:nvPr/>
        </p:nvSpPr>
        <p:spPr>
          <a:xfrm>
            <a:off x="5260726" y="4453128"/>
            <a:ext cx="1670243" cy="822960"/>
          </a:xfrm>
          <a:prstGeom prst="rect">
            <a:avLst/>
          </a:prstGeom>
          <a:noFill/>
          <a:ln/>
        </p:spPr>
        <p:txBody>
          <a:bodyPr wrap="square" lIns="0" tIns="0" rIns="0" bIns="0" rtlCol="0" anchor="ctr"/>
          <a:lstStyle/>
          <a:p>
            <a:pPr marL="0" indent="0">
              <a:buNone/>
            </a:pPr>
            <a:r>
              <a:rPr lang="en-US" sz="1150" b="1" dirty="0">
                <a:solidFill>
                  <a:schemeClr val="tx1"/>
                </a:solidFill>
              </a:rPr>
              <a:t>Month = Feb</a:t>
            </a:r>
            <a:endParaRPr lang="en-US" sz="1150" dirty="0"/>
          </a:p>
          <a:p>
            <a:pPr marL="0" indent="0">
              <a:buNone/>
            </a:pPr>
            <a:r>
              <a:rPr lang="en-US" sz="1150" b="1" dirty="0">
                <a:solidFill>
                  <a:schemeClr val="tx1"/>
                </a:solidFill>
              </a:rPr>
              <a:t>Product × City table, ₹51 L in all</a:t>
            </a:r>
            <a:endParaRPr lang="en-US" sz="1150" dirty="0"/>
          </a:p>
        </p:txBody>
      </p:sp>
      <p:sp>
        <p:nvSpPr>
          <p:cNvPr id="132" name="op-Dice"/>
          <p:cNvSpPr/>
          <p:nvPr/>
        </p:nvSpPr>
        <p:spPr>
          <a:xfrm>
            <a:off x="7315017" y="1783080"/>
            <a:ext cx="2072579" cy="3611880"/>
          </a:xfrm>
          <a:prstGeom prst="roundRect">
            <a:avLst>
              <a:gd name="adj" fmla="val 3530"/>
            </a:avLst>
          </a:prstGeom>
          <a:solidFill>
            <a:schemeClr val="bg2"/>
          </a:solidFill>
          <a:ln w="12700">
            <a:solidFill>
              <a:schemeClr val="bg2"/>
            </a:solidFill>
            <a:prstDash val="solid"/>
          </a:ln>
        </p:spPr>
      </p:sp>
      <p:sp>
        <p:nvSpPr>
          <p:cNvPr id="133" name="dice-top-000"/>
          <p:cNvSpPr/>
          <p:nvPr/>
        </p:nvSpPr>
        <p:spPr>
          <a:xfrm>
            <a:off x="8192933" y="196596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34" name="dice-top-010"/>
          <p:cNvSpPr/>
          <p:nvPr/>
        </p:nvSpPr>
        <p:spPr>
          <a:xfrm>
            <a:off x="8034558" y="205740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35" name="dice-top-020"/>
          <p:cNvSpPr/>
          <p:nvPr/>
        </p:nvSpPr>
        <p:spPr>
          <a:xfrm>
            <a:off x="7876184"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36" name="dice-top-100"/>
          <p:cNvSpPr/>
          <p:nvPr/>
        </p:nvSpPr>
        <p:spPr>
          <a:xfrm>
            <a:off x="8351307" y="205740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37" name="dice-top-110"/>
          <p:cNvSpPr/>
          <p:nvPr/>
        </p:nvSpPr>
        <p:spPr>
          <a:xfrm>
            <a:off x="8192933"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3">
              <a:alpha val="70000"/>
            </a:schemeClr>
          </a:solidFill>
          <a:ln w="9525">
            <a:solidFill>
              <a:schemeClr val="bg1"/>
            </a:solidFill>
            <a:prstDash val="solid"/>
          </a:ln>
        </p:spPr>
      </p:sp>
      <p:sp>
        <p:nvSpPr>
          <p:cNvPr id="138" name="dice-top-120"/>
          <p:cNvSpPr/>
          <p:nvPr/>
        </p:nvSpPr>
        <p:spPr>
          <a:xfrm>
            <a:off x="8034558" y="224028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3">
              <a:alpha val="70000"/>
            </a:schemeClr>
          </a:solidFill>
          <a:ln w="9525">
            <a:solidFill>
              <a:schemeClr val="bg1"/>
            </a:solidFill>
            <a:prstDash val="solid"/>
          </a:ln>
        </p:spPr>
      </p:sp>
      <p:sp>
        <p:nvSpPr>
          <p:cNvPr id="139" name="dice-top-200"/>
          <p:cNvSpPr/>
          <p:nvPr/>
        </p:nvSpPr>
        <p:spPr>
          <a:xfrm>
            <a:off x="8509681" y="214884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1">
              <a:alpha val="14000"/>
            </a:schemeClr>
          </a:solidFill>
          <a:ln w="9525">
            <a:solidFill>
              <a:schemeClr val="bg1"/>
            </a:solidFill>
            <a:prstDash val="solid"/>
          </a:ln>
        </p:spPr>
      </p:sp>
      <p:sp>
        <p:nvSpPr>
          <p:cNvPr id="140" name="dice-top-210"/>
          <p:cNvSpPr/>
          <p:nvPr/>
        </p:nvSpPr>
        <p:spPr>
          <a:xfrm>
            <a:off x="8351307" y="224028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3">
              <a:alpha val="70000"/>
            </a:schemeClr>
          </a:solidFill>
          <a:ln w="9525">
            <a:solidFill>
              <a:schemeClr val="bg1"/>
            </a:solidFill>
            <a:prstDash val="solid"/>
          </a:ln>
        </p:spPr>
      </p:sp>
      <p:sp>
        <p:nvSpPr>
          <p:cNvPr id="141" name="dice-top-220"/>
          <p:cNvSpPr/>
          <p:nvPr/>
        </p:nvSpPr>
        <p:spPr>
          <a:xfrm>
            <a:off x="8192933" y="2331720"/>
            <a:ext cx="316748" cy="182880"/>
          </a:xfrm>
          <a:custGeom>
            <a:avLst/>
            <a:gdLst/>
            <a:ahLst/>
            <a:cxnLst/>
            <a:rect l="l" t="t" r="r" b="b"/>
            <a:pathLst>
              <a:path w="316748" h="182880">
                <a:moveTo>
                  <a:pt x="158374" y="0"/>
                </a:moveTo>
                <a:lnTo>
                  <a:pt x="316748" y="91440"/>
                </a:lnTo>
                <a:lnTo>
                  <a:pt x="158374" y="182880"/>
                </a:lnTo>
                <a:lnTo>
                  <a:pt x="0" y="91440"/>
                </a:lnTo>
                <a:close/>
              </a:path>
            </a:pathLst>
          </a:custGeom>
          <a:solidFill>
            <a:schemeClr val="accent3">
              <a:alpha val="70000"/>
            </a:schemeClr>
          </a:solidFill>
          <a:ln w="9525">
            <a:solidFill>
              <a:schemeClr val="bg1"/>
            </a:solidFill>
            <a:prstDash val="solid"/>
          </a:ln>
        </p:spPr>
      </p:sp>
      <p:sp>
        <p:nvSpPr>
          <p:cNvPr id="142" name="dice-left-020"/>
          <p:cNvSpPr/>
          <p:nvPr/>
        </p:nvSpPr>
        <p:spPr>
          <a:xfrm>
            <a:off x="7876184" y="224028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43" name="dice-left-021"/>
          <p:cNvSpPr/>
          <p:nvPr/>
        </p:nvSpPr>
        <p:spPr>
          <a:xfrm>
            <a:off x="7876184" y="242316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44" name="dice-left-022"/>
          <p:cNvSpPr/>
          <p:nvPr/>
        </p:nvSpPr>
        <p:spPr>
          <a:xfrm>
            <a:off x="7876184" y="260604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45" name="dice-left-120"/>
          <p:cNvSpPr/>
          <p:nvPr/>
        </p:nvSpPr>
        <p:spPr>
          <a:xfrm>
            <a:off x="8034558" y="233172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46" name="dice-left-121"/>
          <p:cNvSpPr/>
          <p:nvPr/>
        </p:nvSpPr>
        <p:spPr>
          <a:xfrm>
            <a:off x="8034558" y="251460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47" name="dice-left-122"/>
          <p:cNvSpPr/>
          <p:nvPr/>
        </p:nvSpPr>
        <p:spPr>
          <a:xfrm>
            <a:off x="8034558" y="269748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48" name="dice-left-220"/>
          <p:cNvSpPr/>
          <p:nvPr/>
        </p:nvSpPr>
        <p:spPr>
          <a:xfrm>
            <a:off x="8192933" y="242316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49" name="dice-left-221"/>
          <p:cNvSpPr/>
          <p:nvPr/>
        </p:nvSpPr>
        <p:spPr>
          <a:xfrm>
            <a:off x="8192933" y="260604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3">
              <a:alpha val="88000"/>
            </a:schemeClr>
          </a:solidFill>
          <a:ln w="9525">
            <a:solidFill>
              <a:schemeClr val="bg1"/>
            </a:solidFill>
            <a:prstDash val="solid"/>
          </a:ln>
        </p:spPr>
      </p:sp>
      <p:sp>
        <p:nvSpPr>
          <p:cNvPr id="150" name="dice-left-222"/>
          <p:cNvSpPr/>
          <p:nvPr/>
        </p:nvSpPr>
        <p:spPr>
          <a:xfrm>
            <a:off x="8192933" y="2788920"/>
            <a:ext cx="158374" cy="274320"/>
          </a:xfrm>
          <a:custGeom>
            <a:avLst/>
            <a:gdLst/>
            <a:ahLst/>
            <a:cxnLst/>
            <a:rect l="l" t="t" r="r" b="b"/>
            <a:pathLst>
              <a:path w="158374" h="274320">
                <a:moveTo>
                  <a:pt x="0" y="0"/>
                </a:moveTo>
                <a:lnTo>
                  <a:pt x="158374" y="91440"/>
                </a:lnTo>
                <a:lnTo>
                  <a:pt x="158374" y="274320"/>
                </a:lnTo>
                <a:lnTo>
                  <a:pt x="0" y="182880"/>
                </a:lnTo>
                <a:close/>
              </a:path>
            </a:pathLst>
          </a:custGeom>
          <a:solidFill>
            <a:schemeClr val="accent1">
              <a:alpha val="28000"/>
            </a:schemeClr>
          </a:solidFill>
          <a:ln w="9525">
            <a:solidFill>
              <a:schemeClr val="bg1"/>
            </a:solidFill>
            <a:prstDash val="solid"/>
          </a:ln>
        </p:spPr>
      </p:sp>
      <p:sp>
        <p:nvSpPr>
          <p:cNvPr id="151" name="dice-right-200"/>
          <p:cNvSpPr/>
          <p:nvPr/>
        </p:nvSpPr>
        <p:spPr>
          <a:xfrm>
            <a:off x="8668055" y="224028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52" name="dice-right-201"/>
          <p:cNvSpPr/>
          <p:nvPr/>
        </p:nvSpPr>
        <p:spPr>
          <a:xfrm>
            <a:off x="8668055" y="242316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53" name="dice-right-202"/>
          <p:cNvSpPr/>
          <p:nvPr/>
        </p:nvSpPr>
        <p:spPr>
          <a:xfrm>
            <a:off x="8668055" y="260604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54" name="dice-right-210"/>
          <p:cNvSpPr/>
          <p:nvPr/>
        </p:nvSpPr>
        <p:spPr>
          <a:xfrm>
            <a:off x="8509681" y="233172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55" name="dice-right-211"/>
          <p:cNvSpPr/>
          <p:nvPr/>
        </p:nvSpPr>
        <p:spPr>
          <a:xfrm>
            <a:off x="8509681" y="251460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56" name="dice-right-212"/>
          <p:cNvSpPr/>
          <p:nvPr/>
        </p:nvSpPr>
        <p:spPr>
          <a:xfrm>
            <a:off x="8509681" y="269748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57" name="dice-right-220"/>
          <p:cNvSpPr/>
          <p:nvPr/>
        </p:nvSpPr>
        <p:spPr>
          <a:xfrm>
            <a:off x="8351307" y="242316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58" name="dice-right-221"/>
          <p:cNvSpPr/>
          <p:nvPr/>
        </p:nvSpPr>
        <p:spPr>
          <a:xfrm>
            <a:off x="8351307" y="260604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3"/>
          </a:solidFill>
          <a:ln w="9525">
            <a:solidFill>
              <a:schemeClr val="bg1"/>
            </a:solidFill>
            <a:prstDash val="solid"/>
          </a:ln>
        </p:spPr>
      </p:sp>
      <p:sp>
        <p:nvSpPr>
          <p:cNvPr id="159" name="dice-right-222"/>
          <p:cNvSpPr/>
          <p:nvPr/>
        </p:nvSpPr>
        <p:spPr>
          <a:xfrm>
            <a:off x="8351307" y="2788920"/>
            <a:ext cx="158374" cy="274320"/>
          </a:xfrm>
          <a:custGeom>
            <a:avLst/>
            <a:gdLst/>
            <a:ahLst/>
            <a:cxnLst/>
            <a:rect l="l" t="t" r="r" b="b"/>
            <a:pathLst>
              <a:path w="158374" h="274320">
                <a:moveTo>
                  <a:pt x="158374" y="0"/>
                </a:moveTo>
                <a:lnTo>
                  <a:pt x="0" y="91440"/>
                </a:lnTo>
                <a:lnTo>
                  <a:pt x="0" y="274320"/>
                </a:lnTo>
                <a:lnTo>
                  <a:pt x="158374" y="182880"/>
                </a:lnTo>
                <a:close/>
              </a:path>
            </a:pathLst>
          </a:custGeom>
          <a:solidFill>
            <a:schemeClr val="accent1">
              <a:alpha val="44000"/>
            </a:schemeClr>
          </a:solidFill>
          <a:ln w="9525">
            <a:solidFill>
              <a:schemeClr val="bg1"/>
            </a:solidFill>
            <a:prstDash val="solid"/>
          </a:ln>
        </p:spPr>
      </p:sp>
      <p:sp>
        <p:nvSpPr>
          <p:cNvPr id="160" name="Text 158"/>
          <p:cNvSpPr txBox="1"/>
          <p:nvPr/>
        </p:nvSpPr>
        <p:spPr>
          <a:xfrm>
            <a:off x="7479609" y="3246120"/>
            <a:ext cx="1743395" cy="329184"/>
          </a:xfrm>
          <a:prstGeom prst="rect">
            <a:avLst/>
          </a:prstGeom>
          <a:noFill/>
          <a:ln/>
        </p:spPr>
        <p:txBody>
          <a:bodyPr wrap="square" lIns="0" tIns="0" rIns="0" bIns="0" rtlCol="0" anchor="ctr"/>
          <a:lstStyle/>
          <a:p>
            <a:pPr marL="0" indent="0">
              <a:buNone/>
            </a:pPr>
            <a:r>
              <a:rPr lang="en-US" sz="1900" b="1" dirty="0">
                <a:solidFill>
                  <a:schemeClr val="tx1"/>
                </a:solidFill>
              </a:rPr>
              <a:t>Dice</a:t>
            </a:r>
            <a:endParaRPr lang="en-US" sz="1900" dirty="0"/>
          </a:p>
        </p:txBody>
      </p:sp>
      <p:sp>
        <p:nvSpPr>
          <p:cNvPr id="161" name="Text 159"/>
          <p:cNvSpPr txBox="1"/>
          <p:nvPr/>
        </p:nvSpPr>
        <p:spPr>
          <a:xfrm>
            <a:off x="7479609" y="3611880"/>
            <a:ext cx="1743395" cy="731520"/>
          </a:xfrm>
          <a:prstGeom prst="rect">
            <a:avLst/>
          </a:prstGeom>
          <a:noFill/>
          <a:ln/>
        </p:spPr>
        <p:txBody>
          <a:bodyPr wrap="square" lIns="0" tIns="0" rIns="0" bIns="0" rtlCol="0" anchor="t"/>
          <a:lstStyle/>
          <a:p>
            <a:pPr marL="0" indent="0">
              <a:buNone/>
            </a:pPr>
            <a:r>
              <a:rPr lang="en-US" sz="1250" dirty="0">
                <a:solidFill>
                  <a:schemeClr val="accent4"/>
                </a:solidFill>
              </a:rPr>
              <a:t>Pick values on two or more dimensions to get a sub-cube.</a:t>
            </a:r>
            <a:endParaRPr lang="en-US" sz="1250" dirty="0"/>
          </a:p>
        </p:txBody>
      </p:sp>
      <p:sp>
        <p:nvSpPr>
          <p:cNvPr id="162" name="ex-Dice"/>
          <p:cNvSpPr/>
          <p:nvPr/>
        </p:nvSpPr>
        <p:spPr>
          <a:xfrm>
            <a:off x="7424745" y="4453128"/>
            <a:ext cx="1853123" cy="822960"/>
          </a:xfrm>
          <a:prstGeom prst="roundRect">
            <a:avLst>
              <a:gd name="adj" fmla="val 8889"/>
            </a:avLst>
          </a:prstGeom>
          <a:solidFill>
            <a:schemeClr val="bg1"/>
          </a:solidFill>
          <a:ln w="12700">
            <a:solidFill>
              <a:schemeClr val="bg1"/>
            </a:solidFill>
            <a:prstDash val="solid"/>
          </a:ln>
        </p:spPr>
      </p:sp>
      <p:sp>
        <p:nvSpPr>
          <p:cNvPr id="163" name="Text 161"/>
          <p:cNvSpPr txBox="1"/>
          <p:nvPr/>
        </p:nvSpPr>
        <p:spPr>
          <a:xfrm>
            <a:off x="7516185" y="4453128"/>
            <a:ext cx="1670243" cy="822960"/>
          </a:xfrm>
          <a:prstGeom prst="rect">
            <a:avLst/>
          </a:prstGeom>
          <a:noFill/>
          <a:ln/>
        </p:spPr>
        <p:txBody>
          <a:bodyPr wrap="square" lIns="0" tIns="0" rIns="0" bIns="0" rtlCol="0" anchor="ctr"/>
          <a:lstStyle/>
          <a:p>
            <a:pPr marL="0" indent="0">
              <a:buNone/>
            </a:pPr>
            <a:r>
              <a:rPr lang="en-US" sz="1150" b="1" dirty="0">
                <a:solidFill>
                  <a:schemeClr val="tx1"/>
                </a:solidFill>
              </a:rPr>
              <a:t>{Laptop, Phone} × {Chennai, Bangalore} × {Jan, Feb} = ₹58 L</a:t>
            </a:r>
            <a:endParaRPr lang="en-US" sz="1150" dirty="0"/>
          </a:p>
        </p:txBody>
      </p:sp>
      <p:sp>
        <p:nvSpPr>
          <p:cNvPr id="164" name="op-Pivot"/>
          <p:cNvSpPr/>
          <p:nvPr/>
        </p:nvSpPr>
        <p:spPr>
          <a:xfrm>
            <a:off x="9570476" y="1783080"/>
            <a:ext cx="2072579" cy="3611880"/>
          </a:xfrm>
          <a:prstGeom prst="roundRect">
            <a:avLst>
              <a:gd name="adj" fmla="val 3530"/>
            </a:avLst>
          </a:prstGeom>
          <a:solidFill>
            <a:schemeClr val="bg2"/>
          </a:solidFill>
          <a:ln w="12700">
            <a:solidFill>
              <a:schemeClr val="bg2"/>
            </a:solidFill>
            <a:prstDash val="solid"/>
          </a:ln>
        </p:spPr>
      </p:sp>
      <p:sp>
        <p:nvSpPr>
          <p:cNvPr id="165" name="Shape 163"/>
          <p:cNvSpPr/>
          <p:nvPr/>
        </p:nvSpPr>
        <p:spPr>
          <a:xfrm>
            <a:off x="9972812" y="2194560"/>
            <a:ext cx="219456" cy="201168"/>
          </a:xfrm>
          <a:prstGeom prst="rect">
            <a:avLst/>
          </a:prstGeom>
          <a:solidFill>
            <a:schemeClr val="accent3"/>
          </a:solidFill>
          <a:ln w="9525">
            <a:solidFill>
              <a:schemeClr val="bg1"/>
            </a:solidFill>
            <a:prstDash val="solid"/>
          </a:ln>
        </p:spPr>
      </p:sp>
      <p:sp>
        <p:nvSpPr>
          <p:cNvPr id="166" name="Shape 164"/>
          <p:cNvSpPr/>
          <p:nvPr/>
        </p:nvSpPr>
        <p:spPr>
          <a:xfrm>
            <a:off x="10192268" y="2194560"/>
            <a:ext cx="219456" cy="201168"/>
          </a:xfrm>
          <a:prstGeom prst="rect">
            <a:avLst/>
          </a:prstGeom>
          <a:solidFill>
            <a:schemeClr val="accent3"/>
          </a:solidFill>
          <a:ln w="9525">
            <a:solidFill>
              <a:schemeClr val="bg1"/>
            </a:solidFill>
            <a:prstDash val="solid"/>
          </a:ln>
        </p:spPr>
      </p:sp>
      <p:sp>
        <p:nvSpPr>
          <p:cNvPr id="167" name="Shape 165"/>
          <p:cNvSpPr/>
          <p:nvPr/>
        </p:nvSpPr>
        <p:spPr>
          <a:xfrm>
            <a:off x="10411724" y="2194560"/>
            <a:ext cx="219456" cy="201168"/>
          </a:xfrm>
          <a:prstGeom prst="rect">
            <a:avLst/>
          </a:prstGeom>
          <a:solidFill>
            <a:schemeClr val="accent3"/>
          </a:solidFill>
          <a:ln w="9525">
            <a:solidFill>
              <a:schemeClr val="bg1"/>
            </a:solidFill>
            <a:prstDash val="solid"/>
          </a:ln>
        </p:spPr>
      </p:sp>
      <p:sp>
        <p:nvSpPr>
          <p:cNvPr id="168" name="Shape 166"/>
          <p:cNvSpPr/>
          <p:nvPr/>
        </p:nvSpPr>
        <p:spPr>
          <a:xfrm>
            <a:off x="9753356" y="2395728"/>
            <a:ext cx="219456" cy="201168"/>
          </a:xfrm>
          <a:prstGeom prst="rect">
            <a:avLst/>
          </a:prstGeom>
          <a:solidFill>
            <a:schemeClr val="accent2"/>
          </a:solidFill>
          <a:ln w="9525">
            <a:solidFill>
              <a:schemeClr val="bg1"/>
            </a:solidFill>
            <a:prstDash val="solid"/>
          </a:ln>
        </p:spPr>
      </p:sp>
      <p:sp>
        <p:nvSpPr>
          <p:cNvPr id="169" name="Shape 167"/>
          <p:cNvSpPr/>
          <p:nvPr/>
        </p:nvSpPr>
        <p:spPr>
          <a:xfrm>
            <a:off x="9972812" y="2395728"/>
            <a:ext cx="219456" cy="201168"/>
          </a:xfrm>
          <a:prstGeom prst="rect">
            <a:avLst/>
          </a:prstGeom>
          <a:solidFill>
            <a:schemeClr val="accent1">
              <a:alpha val="20000"/>
            </a:schemeClr>
          </a:solidFill>
          <a:ln w="9525">
            <a:solidFill>
              <a:schemeClr val="bg1"/>
            </a:solidFill>
            <a:prstDash val="solid"/>
          </a:ln>
        </p:spPr>
      </p:sp>
      <p:sp>
        <p:nvSpPr>
          <p:cNvPr id="170" name="Shape 168"/>
          <p:cNvSpPr/>
          <p:nvPr/>
        </p:nvSpPr>
        <p:spPr>
          <a:xfrm>
            <a:off x="10192268" y="2395728"/>
            <a:ext cx="219456" cy="201168"/>
          </a:xfrm>
          <a:prstGeom prst="rect">
            <a:avLst/>
          </a:prstGeom>
          <a:solidFill>
            <a:schemeClr val="accent1">
              <a:alpha val="20000"/>
            </a:schemeClr>
          </a:solidFill>
          <a:ln w="9525">
            <a:solidFill>
              <a:schemeClr val="bg1"/>
            </a:solidFill>
            <a:prstDash val="solid"/>
          </a:ln>
        </p:spPr>
      </p:sp>
      <p:sp>
        <p:nvSpPr>
          <p:cNvPr id="171" name="Shape 169"/>
          <p:cNvSpPr/>
          <p:nvPr/>
        </p:nvSpPr>
        <p:spPr>
          <a:xfrm>
            <a:off x="10411724" y="2395728"/>
            <a:ext cx="219456" cy="201168"/>
          </a:xfrm>
          <a:prstGeom prst="rect">
            <a:avLst/>
          </a:prstGeom>
          <a:solidFill>
            <a:schemeClr val="accent1">
              <a:alpha val="20000"/>
            </a:schemeClr>
          </a:solidFill>
          <a:ln w="9525">
            <a:solidFill>
              <a:schemeClr val="bg1"/>
            </a:solidFill>
            <a:prstDash val="solid"/>
          </a:ln>
        </p:spPr>
      </p:sp>
      <p:sp>
        <p:nvSpPr>
          <p:cNvPr id="172" name="Shape 170"/>
          <p:cNvSpPr/>
          <p:nvPr/>
        </p:nvSpPr>
        <p:spPr>
          <a:xfrm>
            <a:off x="9753356" y="2596896"/>
            <a:ext cx="219456" cy="201168"/>
          </a:xfrm>
          <a:prstGeom prst="rect">
            <a:avLst/>
          </a:prstGeom>
          <a:solidFill>
            <a:schemeClr val="accent2"/>
          </a:solidFill>
          <a:ln w="9525">
            <a:solidFill>
              <a:schemeClr val="bg1"/>
            </a:solidFill>
            <a:prstDash val="solid"/>
          </a:ln>
        </p:spPr>
      </p:sp>
      <p:sp>
        <p:nvSpPr>
          <p:cNvPr id="173" name="Shape 171"/>
          <p:cNvSpPr/>
          <p:nvPr/>
        </p:nvSpPr>
        <p:spPr>
          <a:xfrm>
            <a:off x="9972812" y="2596896"/>
            <a:ext cx="219456" cy="201168"/>
          </a:xfrm>
          <a:prstGeom prst="rect">
            <a:avLst/>
          </a:prstGeom>
          <a:solidFill>
            <a:schemeClr val="accent1">
              <a:alpha val="20000"/>
            </a:schemeClr>
          </a:solidFill>
          <a:ln w="9525">
            <a:solidFill>
              <a:schemeClr val="bg1"/>
            </a:solidFill>
            <a:prstDash val="solid"/>
          </a:ln>
        </p:spPr>
      </p:sp>
      <p:sp>
        <p:nvSpPr>
          <p:cNvPr id="174" name="Shape 172"/>
          <p:cNvSpPr/>
          <p:nvPr/>
        </p:nvSpPr>
        <p:spPr>
          <a:xfrm>
            <a:off x="10192268" y="2596896"/>
            <a:ext cx="219456" cy="201168"/>
          </a:xfrm>
          <a:prstGeom prst="rect">
            <a:avLst/>
          </a:prstGeom>
          <a:solidFill>
            <a:schemeClr val="accent1">
              <a:alpha val="20000"/>
            </a:schemeClr>
          </a:solidFill>
          <a:ln w="9525">
            <a:solidFill>
              <a:schemeClr val="bg1"/>
            </a:solidFill>
            <a:prstDash val="solid"/>
          </a:ln>
        </p:spPr>
      </p:sp>
      <p:sp>
        <p:nvSpPr>
          <p:cNvPr id="175" name="Shape 173"/>
          <p:cNvSpPr/>
          <p:nvPr/>
        </p:nvSpPr>
        <p:spPr>
          <a:xfrm>
            <a:off x="10411724" y="2596896"/>
            <a:ext cx="219456" cy="201168"/>
          </a:xfrm>
          <a:prstGeom prst="rect">
            <a:avLst/>
          </a:prstGeom>
          <a:solidFill>
            <a:schemeClr val="accent1">
              <a:alpha val="20000"/>
            </a:schemeClr>
          </a:solidFill>
          <a:ln w="9525">
            <a:solidFill>
              <a:schemeClr val="bg1"/>
            </a:solidFill>
            <a:prstDash val="solid"/>
          </a:ln>
        </p:spPr>
      </p:sp>
      <p:sp>
        <p:nvSpPr>
          <p:cNvPr id="176" name="Shape 174"/>
          <p:cNvSpPr/>
          <p:nvPr/>
        </p:nvSpPr>
        <p:spPr>
          <a:xfrm>
            <a:off x="10704332" y="2514600"/>
            <a:ext cx="24323" cy="0"/>
          </a:xfrm>
          <a:prstGeom prst="line">
            <a:avLst/>
          </a:prstGeom>
          <a:noFill/>
          <a:ln w="22225">
            <a:solidFill>
              <a:schemeClr val="accent3"/>
            </a:solidFill>
            <a:prstDash val="solid"/>
            <a:tailEnd type="triangle"/>
          </a:ln>
        </p:spPr>
      </p:sp>
      <p:sp>
        <p:nvSpPr>
          <p:cNvPr id="177" name="Shape 175"/>
          <p:cNvSpPr/>
          <p:nvPr/>
        </p:nvSpPr>
        <p:spPr>
          <a:xfrm>
            <a:off x="11021263" y="2093976"/>
            <a:ext cx="219456" cy="201168"/>
          </a:xfrm>
          <a:prstGeom prst="rect">
            <a:avLst/>
          </a:prstGeom>
          <a:solidFill>
            <a:schemeClr val="accent2"/>
          </a:solidFill>
          <a:ln w="9525">
            <a:solidFill>
              <a:schemeClr val="bg1"/>
            </a:solidFill>
            <a:prstDash val="solid"/>
          </a:ln>
        </p:spPr>
      </p:sp>
      <p:sp>
        <p:nvSpPr>
          <p:cNvPr id="178" name="Shape 176"/>
          <p:cNvSpPr/>
          <p:nvPr/>
        </p:nvSpPr>
        <p:spPr>
          <a:xfrm>
            <a:off x="11240719" y="2093976"/>
            <a:ext cx="219456" cy="201168"/>
          </a:xfrm>
          <a:prstGeom prst="rect">
            <a:avLst/>
          </a:prstGeom>
          <a:solidFill>
            <a:schemeClr val="accent2"/>
          </a:solidFill>
          <a:ln w="9525">
            <a:solidFill>
              <a:schemeClr val="bg1"/>
            </a:solidFill>
            <a:prstDash val="solid"/>
          </a:ln>
        </p:spPr>
      </p:sp>
      <p:sp>
        <p:nvSpPr>
          <p:cNvPr id="179" name="Shape 177"/>
          <p:cNvSpPr/>
          <p:nvPr/>
        </p:nvSpPr>
        <p:spPr>
          <a:xfrm>
            <a:off x="10801807" y="2295144"/>
            <a:ext cx="219456" cy="201168"/>
          </a:xfrm>
          <a:prstGeom prst="rect">
            <a:avLst/>
          </a:prstGeom>
          <a:solidFill>
            <a:schemeClr val="accent3"/>
          </a:solidFill>
          <a:ln w="9525">
            <a:solidFill>
              <a:schemeClr val="bg1"/>
            </a:solidFill>
            <a:prstDash val="solid"/>
          </a:ln>
        </p:spPr>
      </p:sp>
      <p:sp>
        <p:nvSpPr>
          <p:cNvPr id="180" name="Shape 178"/>
          <p:cNvSpPr/>
          <p:nvPr/>
        </p:nvSpPr>
        <p:spPr>
          <a:xfrm>
            <a:off x="11021263" y="2295144"/>
            <a:ext cx="219456" cy="201168"/>
          </a:xfrm>
          <a:prstGeom prst="rect">
            <a:avLst/>
          </a:prstGeom>
          <a:solidFill>
            <a:schemeClr val="accent1">
              <a:alpha val="20000"/>
            </a:schemeClr>
          </a:solidFill>
          <a:ln w="9525">
            <a:solidFill>
              <a:schemeClr val="bg1"/>
            </a:solidFill>
            <a:prstDash val="solid"/>
          </a:ln>
        </p:spPr>
      </p:sp>
      <p:sp>
        <p:nvSpPr>
          <p:cNvPr id="181" name="Shape 179"/>
          <p:cNvSpPr/>
          <p:nvPr/>
        </p:nvSpPr>
        <p:spPr>
          <a:xfrm>
            <a:off x="11240719" y="2295144"/>
            <a:ext cx="219456" cy="201168"/>
          </a:xfrm>
          <a:prstGeom prst="rect">
            <a:avLst/>
          </a:prstGeom>
          <a:solidFill>
            <a:schemeClr val="accent1">
              <a:alpha val="20000"/>
            </a:schemeClr>
          </a:solidFill>
          <a:ln w="9525">
            <a:solidFill>
              <a:schemeClr val="bg1"/>
            </a:solidFill>
            <a:prstDash val="solid"/>
          </a:ln>
        </p:spPr>
      </p:sp>
      <p:sp>
        <p:nvSpPr>
          <p:cNvPr id="182" name="Shape 180"/>
          <p:cNvSpPr/>
          <p:nvPr/>
        </p:nvSpPr>
        <p:spPr>
          <a:xfrm>
            <a:off x="10801807" y="2496312"/>
            <a:ext cx="219456" cy="201168"/>
          </a:xfrm>
          <a:prstGeom prst="rect">
            <a:avLst/>
          </a:prstGeom>
          <a:solidFill>
            <a:schemeClr val="accent3"/>
          </a:solidFill>
          <a:ln w="9525">
            <a:solidFill>
              <a:schemeClr val="bg1"/>
            </a:solidFill>
            <a:prstDash val="solid"/>
          </a:ln>
        </p:spPr>
      </p:sp>
      <p:sp>
        <p:nvSpPr>
          <p:cNvPr id="183" name="Shape 181"/>
          <p:cNvSpPr/>
          <p:nvPr/>
        </p:nvSpPr>
        <p:spPr>
          <a:xfrm>
            <a:off x="11021263" y="2496312"/>
            <a:ext cx="219456" cy="201168"/>
          </a:xfrm>
          <a:prstGeom prst="rect">
            <a:avLst/>
          </a:prstGeom>
          <a:solidFill>
            <a:schemeClr val="accent1">
              <a:alpha val="20000"/>
            </a:schemeClr>
          </a:solidFill>
          <a:ln w="9525">
            <a:solidFill>
              <a:schemeClr val="bg1"/>
            </a:solidFill>
            <a:prstDash val="solid"/>
          </a:ln>
        </p:spPr>
      </p:sp>
      <p:sp>
        <p:nvSpPr>
          <p:cNvPr id="184" name="Shape 182"/>
          <p:cNvSpPr/>
          <p:nvPr/>
        </p:nvSpPr>
        <p:spPr>
          <a:xfrm>
            <a:off x="11240719" y="2496312"/>
            <a:ext cx="219456" cy="201168"/>
          </a:xfrm>
          <a:prstGeom prst="rect">
            <a:avLst/>
          </a:prstGeom>
          <a:solidFill>
            <a:schemeClr val="accent1">
              <a:alpha val="20000"/>
            </a:schemeClr>
          </a:solidFill>
          <a:ln w="9525">
            <a:solidFill>
              <a:schemeClr val="bg1"/>
            </a:solidFill>
            <a:prstDash val="solid"/>
          </a:ln>
        </p:spPr>
      </p:sp>
      <p:sp>
        <p:nvSpPr>
          <p:cNvPr id="185" name="Shape 183"/>
          <p:cNvSpPr/>
          <p:nvPr/>
        </p:nvSpPr>
        <p:spPr>
          <a:xfrm>
            <a:off x="10801807" y="2697480"/>
            <a:ext cx="219456" cy="201168"/>
          </a:xfrm>
          <a:prstGeom prst="rect">
            <a:avLst/>
          </a:prstGeom>
          <a:solidFill>
            <a:schemeClr val="accent3"/>
          </a:solidFill>
          <a:ln w="9525">
            <a:solidFill>
              <a:schemeClr val="bg1"/>
            </a:solidFill>
            <a:prstDash val="solid"/>
          </a:ln>
        </p:spPr>
      </p:sp>
      <p:sp>
        <p:nvSpPr>
          <p:cNvPr id="186" name="Shape 184"/>
          <p:cNvSpPr/>
          <p:nvPr/>
        </p:nvSpPr>
        <p:spPr>
          <a:xfrm>
            <a:off x="11021263" y="2697480"/>
            <a:ext cx="219456" cy="201168"/>
          </a:xfrm>
          <a:prstGeom prst="rect">
            <a:avLst/>
          </a:prstGeom>
          <a:solidFill>
            <a:schemeClr val="accent1">
              <a:alpha val="20000"/>
            </a:schemeClr>
          </a:solidFill>
          <a:ln w="9525">
            <a:solidFill>
              <a:schemeClr val="bg1"/>
            </a:solidFill>
            <a:prstDash val="solid"/>
          </a:ln>
        </p:spPr>
      </p:sp>
      <p:sp>
        <p:nvSpPr>
          <p:cNvPr id="187" name="Shape 185"/>
          <p:cNvSpPr/>
          <p:nvPr/>
        </p:nvSpPr>
        <p:spPr>
          <a:xfrm>
            <a:off x="11240719" y="2697480"/>
            <a:ext cx="219456" cy="201168"/>
          </a:xfrm>
          <a:prstGeom prst="rect">
            <a:avLst/>
          </a:prstGeom>
          <a:solidFill>
            <a:schemeClr val="accent1">
              <a:alpha val="20000"/>
            </a:schemeClr>
          </a:solidFill>
          <a:ln w="9525">
            <a:solidFill>
              <a:schemeClr val="bg1"/>
            </a:solidFill>
            <a:prstDash val="solid"/>
          </a:ln>
        </p:spPr>
      </p:sp>
      <p:sp>
        <p:nvSpPr>
          <p:cNvPr id="188" name="Text 186"/>
          <p:cNvSpPr txBox="1"/>
          <p:nvPr/>
        </p:nvSpPr>
        <p:spPr>
          <a:xfrm>
            <a:off x="9735068" y="3246120"/>
            <a:ext cx="1743395" cy="329184"/>
          </a:xfrm>
          <a:prstGeom prst="rect">
            <a:avLst/>
          </a:prstGeom>
          <a:noFill/>
          <a:ln/>
        </p:spPr>
        <p:txBody>
          <a:bodyPr wrap="square" lIns="0" tIns="0" rIns="0" bIns="0" rtlCol="0" anchor="ctr"/>
          <a:lstStyle/>
          <a:p>
            <a:pPr marL="0" indent="0">
              <a:buNone/>
            </a:pPr>
            <a:r>
              <a:rPr lang="en-US" sz="1900" b="1" dirty="0">
                <a:solidFill>
                  <a:schemeClr val="tx1"/>
                </a:solidFill>
              </a:rPr>
              <a:t>Pivot</a:t>
            </a:r>
            <a:endParaRPr lang="en-US" sz="1900" dirty="0"/>
          </a:p>
        </p:txBody>
      </p:sp>
      <p:sp>
        <p:nvSpPr>
          <p:cNvPr id="189" name="Text 187"/>
          <p:cNvSpPr txBox="1"/>
          <p:nvPr/>
        </p:nvSpPr>
        <p:spPr>
          <a:xfrm>
            <a:off x="9735068" y="3611880"/>
            <a:ext cx="1743395" cy="731520"/>
          </a:xfrm>
          <a:prstGeom prst="rect">
            <a:avLst/>
          </a:prstGeom>
          <a:noFill/>
          <a:ln/>
        </p:spPr>
        <p:txBody>
          <a:bodyPr wrap="square" lIns="0" tIns="0" rIns="0" bIns="0" rtlCol="0" anchor="t"/>
          <a:lstStyle/>
          <a:p>
            <a:pPr marL="0" indent="0">
              <a:buNone/>
            </a:pPr>
            <a:r>
              <a:rPr lang="en-US" sz="1250" dirty="0">
                <a:solidFill>
                  <a:schemeClr val="accent4"/>
                </a:solidFill>
              </a:rPr>
              <a:t>Rotate the axes to see the same cells from another angle.</a:t>
            </a:r>
            <a:endParaRPr lang="en-US" sz="1250" dirty="0"/>
          </a:p>
        </p:txBody>
      </p:sp>
      <p:sp>
        <p:nvSpPr>
          <p:cNvPr id="190" name="ex-Pivot"/>
          <p:cNvSpPr/>
          <p:nvPr/>
        </p:nvSpPr>
        <p:spPr>
          <a:xfrm>
            <a:off x="9680204" y="4453128"/>
            <a:ext cx="1853123" cy="822960"/>
          </a:xfrm>
          <a:prstGeom prst="roundRect">
            <a:avLst>
              <a:gd name="adj" fmla="val 8889"/>
            </a:avLst>
          </a:prstGeom>
          <a:solidFill>
            <a:schemeClr val="bg1"/>
          </a:solidFill>
          <a:ln w="12700">
            <a:solidFill>
              <a:schemeClr val="bg1"/>
            </a:solidFill>
            <a:prstDash val="solid"/>
          </a:ln>
        </p:spPr>
      </p:sp>
      <p:sp>
        <p:nvSpPr>
          <p:cNvPr id="191" name="Text 189"/>
          <p:cNvSpPr txBox="1"/>
          <p:nvPr/>
        </p:nvSpPr>
        <p:spPr>
          <a:xfrm>
            <a:off x="9771644" y="4453128"/>
            <a:ext cx="1670243" cy="822960"/>
          </a:xfrm>
          <a:prstGeom prst="rect">
            <a:avLst/>
          </a:prstGeom>
          <a:noFill/>
          <a:ln/>
        </p:spPr>
        <p:txBody>
          <a:bodyPr wrap="square" lIns="0" tIns="0" rIns="0" bIns="0" rtlCol="0" anchor="ctr"/>
          <a:lstStyle/>
          <a:p>
            <a:pPr marL="0" indent="0">
              <a:buNone/>
            </a:pPr>
            <a:r>
              <a:rPr lang="en-US" sz="1150" b="1" dirty="0">
                <a:solidFill>
                  <a:schemeClr val="tx1"/>
                </a:solidFill>
              </a:rPr>
              <a:t>Product × City</a:t>
            </a:r>
            <a:endParaRPr lang="en-US" sz="1150" dirty="0"/>
          </a:p>
          <a:p>
            <a:pPr marL="0" indent="0">
              <a:buNone/>
            </a:pPr>
            <a:r>
              <a:rPr lang="en-US" sz="1150" b="1" dirty="0">
                <a:solidFill>
                  <a:schemeClr val="tx1"/>
                </a:solidFill>
              </a:rPr>
              <a:t>becomes City × Product</a:t>
            </a:r>
            <a:endParaRPr lang="en-US" sz="1150" dirty="0"/>
          </a:p>
        </p:txBody>
      </p:sp>
      <p:sp>
        <p:nvSpPr>
          <p:cNvPr id="192" name="quick-check"/>
          <p:cNvSpPr/>
          <p:nvPr/>
        </p:nvSpPr>
        <p:spPr>
          <a:xfrm>
            <a:off x="548640" y="5577840"/>
            <a:ext cx="11094415" cy="566928"/>
          </a:xfrm>
          <a:prstGeom prst="roundRect">
            <a:avLst>
              <a:gd name="adj" fmla="val 12903"/>
            </a:avLst>
          </a:prstGeom>
          <a:solidFill>
            <a:schemeClr val="tx1"/>
          </a:solidFill>
          <a:ln w="12700">
            <a:solidFill>
              <a:schemeClr val="tx1"/>
            </a:solidFill>
            <a:prstDash val="solid"/>
          </a:ln>
        </p:spPr>
      </p:sp>
      <p:sp>
        <p:nvSpPr>
          <p:cNvPr id="193" name="Text 191"/>
          <p:cNvSpPr txBox="1"/>
          <p:nvPr/>
        </p:nvSpPr>
        <p:spPr>
          <a:xfrm>
            <a:off x="731520" y="5733288"/>
            <a:ext cx="1188720" cy="256032"/>
          </a:xfrm>
          <a:prstGeom prst="roundRect">
            <a:avLst>
              <a:gd name="adj" fmla="val 21429"/>
            </a:avLst>
          </a:prstGeom>
          <a:solidFill>
            <a:schemeClr val="accent3"/>
          </a:solidFill>
          <a:ln/>
        </p:spPr>
        <p:txBody>
          <a:bodyPr wrap="square" lIns="0" tIns="0" rIns="0" bIns="0" rtlCol="0" anchor="ctr"/>
          <a:lstStyle/>
          <a:p>
            <a:pPr marL="0" indent="0" algn="ctr">
              <a:buNone/>
            </a:pPr>
            <a:r>
              <a:rPr lang="en-US" sz="1000" b="1" dirty="0">
                <a:solidFill>
                  <a:schemeClr val="bg1"/>
                </a:solidFill>
              </a:rPr>
              <a:t>QUICK CHECK</a:t>
            </a:r>
            <a:endParaRPr lang="en-US" sz="1000" dirty="0"/>
          </a:p>
        </p:txBody>
      </p:sp>
      <p:sp>
        <p:nvSpPr>
          <p:cNvPr id="194" name="Text 192"/>
          <p:cNvSpPr txBox="1"/>
          <p:nvPr/>
        </p:nvSpPr>
        <p:spPr>
          <a:xfrm>
            <a:off x="2103120" y="5577840"/>
            <a:ext cx="9326880" cy="566928"/>
          </a:xfrm>
          <a:prstGeom prst="rect">
            <a:avLst/>
          </a:prstGeom>
          <a:noFill/>
          <a:ln/>
        </p:spPr>
        <p:txBody>
          <a:bodyPr wrap="square" lIns="0" tIns="0" rIns="0" bIns="0" rtlCol="0" anchor="ctr"/>
          <a:lstStyle/>
          <a:p>
            <a:pPr marL="0" indent="0">
              <a:buNone/>
            </a:pPr>
            <a:r>
              <a:rPr lang="en-US" sz="1400" b="1" dirty="0">
                <a:solidFill>
                  <a:schemeClr val="bg1"/>
                </a:solidFill>
              </a:rPr>
              <a:t>"Total phone sales in Chennai for the whole quarter?"</a:t>
            </a:r>
            <a:r>
              <a:rPr lang="en-US" sz="1400" dirty="0">
                <a:solidFill>
                  <a:schemeClr val="accent5"/>
                </a:solidFill>
              </a:rPr>
              <a:t>   Which two operations get you there?</a:t>
            </a:r>
            <a:endParaRPr lang="en-US" sz="1400" dirty="0"/>
          </a:p>
        </p:txBody>
      </p:sp>
      <p:sp>
        <p:nvSpPr>
          <p:cNvPr id="19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411480"/>
            <a:ext cx="8229600" cy="274320"/>
          </a:xfrm>
          <a:prstGeom prst="rect">
            <a:avLst/>
          </a:prstGeom>
          <a:noFill/>
          <a:ln/>
        </p:spPr>
        <p:txBody>
          <a:bodyPr wrap="square" lIns="0" tIns="0" rIns="0" bIns="0" rtlCol="0"/>
          <a:lstStyle/>
          <a:p>
            <a:pPr marL="0" indent="0">
              <a:buNone/>
            </a:pPr>
            <a:r>
              <a:rPr lang="en-US" sz="1200" b="1" kern="0" spc="300" dirty="0">
                <a:solidFill>
                  <a:schemeClr val="accent3"/>
                </a:solidFill>
              </a:rPr>
              <a:t>05  ·  CUBE COMPUTATION</a:t>
            </a:r>
            <a:endParaRPr lang="en-US" sz="1200" dirty="0"/>
          </a:p>
        </p:txBody>
      </p:sp>
      <p:sp>
        <p:nvSpPr>
          <p:cNvPr id="3" name="Text 1"/>
          <p:cNvSpPr>
            <a:spLocks noGrp="1"/>
          </p:cNvSpPr>
          <p:nvPr>
            <p:ph type="title" idx="104" hasCustomPrompt="1"/>
          </p:nvPr>
        </p:nvSpPr>
        <p:spPr>
          <a:xfrm>
            <a:off x="548640" y="749808"/>
            <a:ext cx="9509760" cy="960120"/>
          </a:xfrm>
          <a:prstGeom prst="rect">
            <a:avLst/>
          </a:prstGeom>
          <a:noFill/>
          <a:ln/>
        </p:spPr>
        <p:txBody>
          <a:bodyPr wrap="square" lIns="0" tIns="0" rIns="0" bIns="0" rtlCol="0" anchor="t"/>
          <a:lstStyle/>
          <a:p>
            <a:pPr marL="0" indent="0" algn="l">
              <a:buNone/>
            </a:pPr>
            <a:r>
              <a:rPr lang="en-US" sz="3000" b="1" dirty="0">
                <a:solidFill>
                  <a:schemeClr val="tx1"/>
                </a:solidFill>
              </a:rPr>
              <a:t>n dimensions give 2</a:t>
            </a:r>
            <a:r>
              <a:rPr lang="en-US" sz="3000" b="1" baseline="30000" dirty="0">
                <a:solidFill>
                  <a:schemeClr val="tx1"/>
                </a:solidFill>
              </a:rPr>
              <a:t>n</a:t>
            </a:r>
            <a:r>
              <a:rPr lang="en-US" sz="3000" b="1" dirty="0">
                <a:solidFill>
                  <a:schemeClr val="tx1"/>
                </a:solidFill>
              </a:rPr>
              <a:t> cuboids, so the warehouse chooses what to precompute</a:t>
            </a:r>
            <a:endParaRPr lang="en-US" sz="3000" dirty="0"/>
          </a:p>
        </p:txBody>
      </p:sp>
      <p:sp>
        <p:nvSpPr>
          <p:cNvPr id="4" name="Shape 2"/>
          <p:cNvSpPr/>
          <p:nvPr/>
        </p:nvSpPr>
        <p:spPr>
          <a:xfrm flipV="1">
            <a:off x="1874520" y="2350008"/>
            <a:ext cx="1645920" cy="274320"/>
          </a:xfrm>
          <a:prstGeom prst="line">
            <a:avLst/>
          </a:prstGeom>
          <a:noFill/>
          <a:ln w="12700">
            <a:solidFill>
              <a:schemeClr val="accent4"/>
            </a:solidFill>
            <a:prstDash val="solid"/>
          </a:ln>
        </p:spPr>
      </p:sp>
      <p:sp>
        <p:nvSpPr>
          <p:cNvPr id="5" name="Shape 3"/>
          <p:cNvSpPr/>
          <p:nvPr/>
        </p:nvSpPr>
        <p:spPr>
          <a:xfrm>
            <a:off x="1874520" y="3849624"/>
            <a:ext cx="1645920" cy="274320"/>
          </a:xfrm>
          <a:prstGeom prst="line">
            <a:avLst/>
          </a:prstGeom>
          <a:noFill/>
          <a:ln w="12700">
            <a:solidFill>
              <a:schemeClr val="accent4"/>
            </a:solidFill>
            <a:prstDash val="solid"/>
          </a:ln>
        </p:spPr>
      </p:sp>
      <p:sp>
        <p:nvSpPr>
          <p:cNvPr id="6" name="Shape 4"/>
          <p:cNvSpPr/>
          <p:nvPr/>
        </p:nvSpPr>
        <p:spPr>
          <a:xfrm>
            <a:off x="3520440" y="2350008"/>
            <a:ext cx="0" cy="274320"/>
          </a:xfrm>
          <a:prstGeom prst="line">
            <a:avLst/>
          </a:prstGeom>
          <a:noFill/>
          <a:ln w="12700">
            <a:solidFill>
              <a:schemeClr val="accent4"/>
            </a:solidFill>
            <a:prstDash val="solid"/>
          </a:ln>
        </p:spPr>
      </p:sp>
      <p:sp>
        <p:nvSpPr>
          <p:cNvPr id="7" name="Shape 5"/>
          <p:cNvSpPr/>
          <p:nvPr/>
        </p:nvSpPr>
        <p:spPr>
          <a:xfrm>
            <a:off x="3520440" y="3849624"/>
            <a:ext cx="0" cy="274320"/>
          </a:xfrm>
          <a:prstGeom prst="line">
            <a:avLst/>
          </a:prstGeom>
          <a:noFill/>
          <a:ln w="12700">
            <a:solidFill>
              <a:schemeClr val="accent4"/>
            </a:solidFill>
            <a:prstDash val="solid"/>
          </a:ln>
        </p:spPr>
      </p:sp>
      <p:sp>
        <p:nvSpPr>
          <p:cNvPr id="8" name="Shape 6"/>
          <p:cNvSpPr/>
          <p:nvPr/>
        </p:nvSpPr>
        <p:spPr>
          <a:xfrm>
            <a:off x="3520440" y="2350008"/>
            <a:ext cx="1645920" cy="274320"/>
          </a:xfrm>
          <a:prstGeom prst="line">
            <a:avLst/>
          </a:prstGeom>
          <a:noFill/>
          <a:ln w="12700">
            <a:solidFill>
              <a:schemeClr val="accent4"/>
            </a:solidFill>
            <a:prstDash val="solid"/>
          </a:ln>
        </p:spPr>
      </p:sp>
      <p:sp>
        <p:nvSpPr>
          <p:cNvPr id="9" name="Shape 7"/>
          <p:cNvSpPr/>
          <p:nvPr/>
        </p:nvSpPr>
        <p:spPr>
          <a:xfrm flipV="1">
            <a:off x="3520440" y="3849624"/>
            <a:ext cx="1645920" cy="274320"/>
          </a:xfrm>
          <a:prstGeom prst="line">
            <a:avLst/>
          </a:prstGeom>
          <a:noFill/>
          <a:ln w="12700">
            <a:solidFill>
              <a:schemeClr val="accent4"/>
            </a:solidFill>
            <a:prstDash val="solid"/>
          </a:ln>
        </p:spPr>
      </p:sp>
      <p:sp>
        <p:nvSpPr>
          <p:cNvPr id="10" name="Shape 8"/>
          <p:cNvSpPr/>
          <p:nvPr/>
        </p:nvSpPr>
        <p:spPr>
          <a:xfrm>
            <a:off x="1874520" y="3099816"/>
            <a:ext cx="0" cy="274320"/>
          </a:xfrm>
          <a:prstGeom prst="line">
            <a:avLst/>
          </a:prstGeom>
          <a:noFill/>
          <a:ln w="12700">
            <a:solidFill>
              <a:schemeClr val="accent4"/>
            </a:solidFill>
            <a:prstDash val="solid"/>
          </a:ln>
        </p:spPr>
      </p:sp>
      <p:sp>
        <p:nvSpPr>
          <p:cNvPr id="11" name="Shape 9"/>
          <p:cNvSpPr/>
          <p:nvPr/>
        </p:nvSpPr>
        <p:spPr>
          <a:xfrm>
            <a:off x="1874520" y="3099816"/>
            <a:ext cx="1645920" cy="274320"/>
          </a:xfrm>
          <a:prstGeom prst="line">
            <a:avLst/>
          </a:prstGeom>
          <a:noFill/>
          <a:ln w="12700">
            <a:solidFill>
              <a:schemeClr val="accent4"/>
            </a:solidFill>
            <a:prstDash val="solid"/>
          </a:ln>
        </p:spPr>
      </p:sp>
      <p:sp>
        <p:nvSpPr>
          <p:cNvPr id="12" name="Shape 10"/>
          <p:cNvSpPr/>
          <p:nvPr/>
        </p:nvSpPr>
        <p:spPr>
          <a:xfrm flipV="1">
            <a:off x="1874520" y="3099816"/>
            <a:ext cx="1645920" cy="274320"/>
          </a:xfrm>
          <a:prstGeom prst="line">
            <a:avLst/>
          </a:prstGeom>
          <a:noFill/>
          <a:ln w="12700">
            <a:solidFill>
              <a:schemeClr val="accent4"/>
            </a:solidFill>
            <a:prstDash val="solid"/>
          </a:ln>
        </p:spPr>
      </p:sp>
      <p:sp>
        <p:nvSpPr>
          <p:cNvPr id="13" name="Shape 11"/>
          <p:cNvSpPr/>
          <p:nvPr/>
        </p:nvSpPr>
        <p:spPr>
          <a:xfrm>
            <a:off x="3520440" y="3099816"/>
            <a:ext cx="1645920" cy="274320"/>
          </a:xfrm>
          <a:prstGeom prst="line">
            <a:avLst/>
          </a:prstGeom>
          <a:noFill/>
          <a:ln w="12700">
            <a:solidFill>
              <a:schemeClr val="accent4"/>
            </a:solidFill>
            <a:prstDash val="solid"/>
          </a:ln>
        </p:spPr>
      </p:sp>
      <p:sp>
        <p:nvSpPr>
          <p:cNvPr id="14" name="Shape 12"/>
          <p:cNvSpPr/>
          <p:nvPr/>
        </p:nvSpPr>
        <p:spPr>
          <a:xfrm flipV="1">
            <a:off x="3520440" y="3099816"/>
            <a:ext cx="1645920" cy="274320"/>
          </a:xfrm>
          <a:prstGeom prst="line">
            <a:avLst/>
          </a:prstGeom>
          <a:noFill/>
          <a:ln w="12700">
            <a:solidFill>
              <a:schemeClr val="accent4"/>
            </a:solidFill>
            <a:prstDash val="solid"/>
          </a:ln>
        </p:spPr>
      </p:sp>
      <p:sp>
        <p:nvSpPr>
          <p:cNvPr id="15" name="Shape 13"/>
          <p:cNvSpPr/>
          <p:nvPr/>
        </p:nvSpPr>
        <p:spPr>
          <a:xfrm>
            <a:off x="5166360" y="3099816"/>
            <a:ext cx="0" cy="274320"/>
          </a:xfrm>
          <a:prstGeom prst="line">
            <a:avLst/>
          </a:prstGeom>
          <a:noFill/>
          <a:ln w="12700">
            <a:solidFill>
              <a:schemeClr val="accent4"/>
            </a:solidFill>
            <a:prstDash val="solid"/>
          </a:ln>
        </p:spPr>
      </p:sp>
      <p:sp>
        <p:nvSpPr>
          <p:cNvPr id="16" name="cuboid-all"/>
          <p:cNvSpPr/>
          <p:nvPr/>
        </p:nvSpPr>
        <p:spPr>
          <a:xfrm>
            <a:off x="2514600" y="1874520"/>
            <a:ext cx="2011680" cy="475488"/>
          </a:xfrm>
          <a:prstGeom prst="roundRect">
            <a:avLst>
              <a:gd name="adj" fmla="val 15385"/>
            </a:avLst>
          </a:prstGeom>
          <a:solidFill>
            <a:schemeClr val="tx1"/>
          </a:solidFill>
          <a:ln w="12700">
            <a:solidFill>
              <a:schemeClr val="tx1"/>
            </a:solidFill>
            <a:prstDash val="solid"/>
          </a:ln>
        </p:spPr>
      </p:sp>
      <p:sp>
        <p:nvSpPr>
          <p:cNvPr id="17" name="Text 15"/>
          <p:cNvSpPr txBox="1"/>
          <p:nvPr/>
        </p:nvSpPr>
        <p:spPr>
          <a:xfrm>
            <a:off x="2514600" y="1874520"/>
            <a:ext cx="2011680" cy="475488"/>
          </a:xfrm>
          <a:prstGeom prst="rect">
            <a:avLst/>
          </a:prstGeom>
          <a:noFill/>
          <a:ln/>
        </p:spPr>
        <p:txBody>
          <a:bodyPr wrap="square" lIns="0" tIns="0" rIns="0" bIns="0" rtlCol="0" anchor="ctr"/>
          <a:lstStyle/>
          <a:p>
            <a:pPr marL="0" indent="0" algn="ctr">
              <a:buNone/>
            </a:pPr>
            <a:r>
              <a:rPr lang="en-US" sz="1200" b="1" dirty="0">
                <a:solidFill>
                  <a:schemeClr val="bg1"/>
                </a:solidFill>
              </a:rPr>
              <a:t>all</a:t>
            </a:r>
            <a:endParaRPr lang="en-US" sz="1200" dirty="0"/>
          </a:p>
          <a:p>
            <a:pPr marL="0" indent="0" algn="ctr">
              <a:buNone/>
            </a:pPr>
            <a:r>
              <a:rPr lang="en-US" sz="1000" dirty="0">
                <a:solidFill>
                  <a:schemeClr val="accent5"/>
                </a:solidFill>
              </a:rPr>
              <a:t>1 cell: the grand total</a:t>
            </a:r>
            <a:endParaRPr lang="en-US" sz="1200" dirty="0"/>
          </a:p>
        </p:txBody>
      </p:sp>
      <p:sp>
        <p:nvSpPr>
          <p:cNvPr id="18" name="cuboid-product"/>
          <p:cNvSpPr/>
          <p:nvPr/>
        </p:nvSpPr>
        <p:spPr>
          <a:xfrm>
            <a:off x="1143000" y="2624328"/>
            <a:ext cx="1463040" cy="475488"/>
          </a:xfrm>
          <a:prstGeom prst="roundRect">
            <a:avLst>
              <a:gd name="adj" fmla="val 15385"/>
            </a:avLst>
          </a:prstGeom>
          <a:solidFill>
            <a:schemeClr val="bg2"/>
          </a:solidFill>
          <a:ln w="12700">
            <a:solidFill>
              <a:schemeClr val="bg2"/>
            </a:solidFill>
            <a:prstDash val="solid"/>
          </a:ln>
        </p:spPr>
      </p:sp>
      <p:sp>
        <p:nvSpPr>
          <p:cNvPr id="19" name="Text 17"/>
          <p:cNvSpPr txBox="1"/>
          <p:nvPr/>
        </p:nvSpPr>
        <p:spPr>
          <a:xfrm>
            <a:off x="1143000" y="2624328"/>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product</a:t>
            </a:r>
            <a:endParaRPr lang="en-US" sz="1200" dirty="0"/>
          </a:p>
          <a:p>
            <a:pPr marL="0" indent="0" algn="ctr">
              <a:buNone/>
            </a:pPr>
            <a:r>
              <a:rPr lang="en-US" sz="1000" dirty="0">
                <a:solidFill>
                  <a:schemeClr val="accent4"/>
                </a:solidFill>
              </a:rPr>
              <a:t>3 cells</a:t>
            </a:r>
            <a:endParaRPr lang="en-US" sz="1200" dirty="0"/>
          </a:p>
        </p:txBody>
      </p:sp>
      <p:sp>
        <p:nvSpPr>
          <p:cNvPr id="20" name="cuboid-city"/>
          <p:cNvSpPr/>
          <p:nvPr/>
        </p:nvSpPr>
        <p:spPr>
          <a:xfrm>
            <a:off x="2788920" y="2624328"/>
            <a:ext cx="1463040" cy="475488"/>
          </a:xfrm>
          <a:prstGeom prst="roundRect">
            <a:avLst>
              <a:gd name="adj" fmla="val 15385"/>
            </a:avLst>
          </a:prstGeom>
          <a:solidFill>
            <a:schemeClr val="bg2"/>
          </a:solidFill>
          <a:ln w="12700">
            <a:solidFill>
              <a:schemeClr val="bg2"/>
            </a:solidFill>
            <a:prstDash val="solid"/>
          </a:ln>
        </p:spPr>
      </p:sp>
      <p:sp>
        <p:nvSpPr>
          <p:cNvPr id="21" name="Text 19"/>
          <p:cNvSpPr txBox="1"/>
          <p:nvPr/>
        </p:nvSpPr>
        <p:spPr>
          <a:xfrm>
            <a:off x="2788920" y="2624328"/>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city</a:t>
            </a:r>
            <a:endParaRPr lang="en-US" sz="1200" dirty="0"/>
          </a:p>
          <a:p>
            <a:pPr marL="0" indent="0" algn="ctr">
              <a:buNone/>
            </a:pPr>
            <a:r>
              <a:rPr lang="en-US" sz="1000" dirty="0">
                <a:solidFill>
                  <a:schemeClr val="accent4"/>
                </a:solidFill>
              </a:rPr>
              <a:t>3 cells</a:t>
            </a:r>
            <a:endParaRPr lang="en-US" sz="1200" dirty="0"/>
          </a:p>
        </p:txBody>
      </p:sp>
      <p:sp>
        <p:nvSpPr>
          <p:cNvPr id="22" name="cuboid-month"/>
          <p:cNvSpPr/>
          <p:nvPr/>
        </p:nvSpPr>
        <p:spPr>
          <a:xfrm>
            <a:off x="4434840" y="2624328"/>
            <a:ext cx="1463040" cy="475488"/>
          </a:xfrm>
          <a:prstGeom prst="roundRect">
            <a:avLst>
              <a:gd name="adj" fmla="val 15385"/>
            </a:avLst>
          </a:prstGeom>
          <a:solidFill>
            <a:schemeClr val="bg2"/>
          </a:solidFill>
          <a:ln w="12700">
            <a:solidFill>
              <a:schemeClr val="bg2"/>
            </a:solidFill>
            <a:prstDash val="solid"/>
          </a:ln>
        </p:spPr>
      </p:sp>
      <p:sp>
        <p:nvSpPr>
          <p:cNvPr id="23" name="Text 21"/>
          <p:cNvSpPr txBox="1"/>
          <p:nvPr/>
        </p:nvSpPr>
        <p:spPr>
          <a:xfrm>
            <a:off x="4434840" y="2624328"/>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month</a:t>
            </a:r>
            <a:endParaRPr lang="en-US" sz="1200" dirty="0"/>
          </a:p>
          <a:p>
            <a:pPr marL="0" indent="0" algn="ctr">
              <a:buNone/>
            </a:pPr>
            <a:r>
              <a:rPr lang="en-US" sz="1000" dirty="0">
                <a:solidFill>
                  <a:schemeClr val="accent4"/>
                </a:solidFill>
              </a:rPr>
              <a:t>3 cells</a:t>
            </a:r>
            <a:endParaRPr lang="en-US" sz="1200" dirty="0"/>
          </a:p>
        </p:txBody>
      </p:sp>
      <p:sp>
        <p:nvSpPr>
          <p:cNvPr id="24" name="cuboid-product, city"/>
          <p:cNvSpPr/>
          <p:nvPr/>
        </p:nvSpPr>
        <p:spPr>
          <a:xfrm>
            <a:off x="1143000" y="3374136"/>
            <a:ext cx="1463040" cy="475488"/>
          </a:xfrm>
          <a:prstGeom prst="roundRect">
            <a:avLst>
              <a:gd name="adj" fmla="val 15385"/>
            </a:avLst>
          </a:prstGeom>
          <a:solidFill>
            <a:schemeClr val="bg2"/>
          </a:solidFill>
          <a:ln w="12700">
            <a:solidFill>
              <a:schemeClr val="bg2"/>
            </a:solidFill>
            <a:prstDash val="solid"/>
          </a:ln>
        </p:spPr>
      </p:sp>
      <p:sp>
        <p:nvSpPr>
          <p:cNvPr id="25" name="Text 23"/>
          <p:cNvSpPr txBox="1"/>
          <p:nvPr/>
        </p:nvSpPr>
        <p:spPr>
          <a:xfrm>
            <a:off x="1143000" y="3374136"/>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product, city</a:t>
            </a:r>
            <a:endParaRPr lang="en-US" sz="1200" dirty="0"/>
          </a:p>
          <a:p>
            <a:pPr marL="0" indent="0" algn="ctr">
              <a:buNone/>
            </a:pPr>
            <a:r>
              <a:rPr lang="en-US" sz="1000" dirty="0">
                <a:solidFill>
                  <a:schemeClr val="accent4"/>
                </a:solidFill>
              </a:rPr>
              <a:t>9 cells</a:t>
            </a:r>
            <a:endParaRPr lang="en-US" sz="1200" dirty="0"/>
          </a:p>
        </p:txBody>
      </p:sp>
      <p:sp>
        <p:nvSpPr>
          <p:cNvPr id="26" name="cuboid-product, month"/>
          <p:cNvSpPr/>
          <p:nvPr/>
        </p:nvSpPr>
        <p:spPr>
          <a:xfrm>
            <a:off x="2788920" y="3374136"/>
            <a:ext cx="1463040" cy="475488"/>
          </a:xfrm>
          <a:prstGeom prst="roundRect">
            <a:avLst>
              <a:gd name="adj" fmla="val 15385"/>
            </a:avLst>
          </a:prstGeom>
          <a:solidFill>
            <a:schemeClr val="bg2"/>
          </a:solidFill>
          <a:ln w="12700">
            <a:solidFill>
              <a:schemeClr val="bg2"/>
            </a:solidFill>
            <a:prstDash val="solid"/>
          </a:ln>
        </p:spPr>
      </p:sp>
      <p:sp>
        <p:nvSpPr>
          <p:cNvPr id="27" name="Text 25"/>
          <p:cNvSpPr txBox="1"/>
          <p:nvPr/>
        </p:nvSpPr>
        <p:spPr>
          <a:xfrm>
            <a:off x="2788920" y="3374136"/>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product, month</a:t>
            </a:r>
            <a:endParaRPr lang="en-US" sz="1200" dirty="0"/>
          </a:p>
          <a:p>
            <a:pPr marL="0" indent="0" algn="ctr">
              <a:buNone/>
            </a:pPr>
            <a:r>
              <a:rPr lang="en-US" sz="1000" dirty="0">
                <a:solidFill>
                  <a:schemeClr val="accent4"/>
                </a:solidFill>
              </a:rPr>
              <a:t>9 cells</a:t>
            </a:r>
            <a:endParaRPr lang="en-US" sz="1200" dirty="0"/>
          </a:p>
        </p:txBody>
      </p:sp>
      <p:sp>
        <p:nvSpPr>
          <p:cNvPr id="28" name="cuboid-city, month"/>
          <p:cNvSpPr/>
          <p:nvPr/>
        </p:nvSpPr>
        <p:spPr>
          <a:xfrm>
            <a:off x="4434840" y="3374136"/>
            <a:ext cx="1463040" cy="475488"/>
          </a:xfrm>
          <a:prstGeom prst="roundRect">
            <a:avLst>
              <a:gd name="adj" fmla="val 15385"/>
            </a:avLst>
          </a:prstGeom>
          <a:solidFill>
            <a:schemeClr val="bg2"/>
          </a:solidFill>
          <a:ln w="12700">
            <a:solidFill>
              <a:schemeClr val="bg2"/>
            </a:solidFill>
            <a:prstDash val="solid"/>
          </a:ln>
        </p:spPr>
      </p:sp>
      <p:sp>
        <p:nvSpPr>
          <p:cNvPr id="29" name="Text 27"/>
          <p:cNvSpPr txBox="1"/>
          <p:nvPr/>
        </p:nvSpPr>
        <p:spPr>
          <a:xfrm>
            <a:off x="4434840" y="3374136"/>
            <a:ext cx="1463040" cy="475488"/>
          </a:xfrm>
          <a:prstGeom prst="rect">
            <a:avLst/>
          </a:prstGeom>
          <a:noFill/>
          <a:ln/>
        </p:spPr>
        <p:txBody>
          <a:bodyPr wrap="square" lIns="0" tIns="0" rIns="0" bIns="0" rtlCol="0" anchor="ctr"/>
          <a:lstStyle/>
          <a:p>
            <a:pPr marL="0" indent="0" algn="ctr">
              <a:buNone/>
            </a:pPr>
            <a:r>
              <a:rPr lang="en-US" sz="1200" b="1" dirty="0">
                <a:solidFill>
                  <a:schemeClr val="tx1"/>
                </a:solidFill>
              </a:rPr>
              <a:t>city, month</a:t>
            </a:r>
            <a:endParaRPr lang="en-US" sz="1200" dirty="0"/>
          </a:p>
          <a:p>
            <a:pPr marL="0" indent="0" algn="ctr">
              <a:buNone/>
            </a:pPr>
            <a:r>
              <a:rPr lang="en-US" sz="1000" dirty="0">
                <a:solidFill>
                  <a:schemeClr val="accent4"/>
                </a:solidFill>
              </a:rPr>
              <a:t>9 cells</a:t>
            </a:r>
            <a:endParaRPr lang="en-US" sz="1200" dirty="0"/>
          </a:p>
        </p:txBody>
      </p:sp>
      <p:sp>
        <p:nvSpPr>
          <p:cNvPr id="30" name="cuboid-product, city, month"/>
          <p:cNvSpPr/>
          <p:nvPr/>
        </p:nvSpPr>
        <p:spPr>
          <a:xfrm>
            <a:off x="2331720" y="4123944"/>
            <a:ext cx="2377440" cy="475488"/>
          </a:xfrm>
          <a:prstGeom prst="roundRect">
            <a:avLst>
              <a:gd name="adj" fmla="val 15385"/>
            </a:avLst>
          </a:prstGeom>
          <a:solidFill>
            <a:schemeClr val="accent1"/>
          </a:solidFill>
          <a:ln w="12700">
            <a:solidFill>
              <a:schemeClr val="accent1"/>
            </a:solidFill>
            <a:prstDash val="solid"/>
          </a:ln>
        </p:spPr>
      </p:sp>
      <p:sp>
        <p:nvSpPr>
          <p:cNvPr id="31" name="Text 29"/>
          <p:cNvSpPr txBox="1"/>
          <p:nvPr/>
        </p:nvSpPr>
        <p:spPr>
          <a:xfrm>
            <a:off x="2331720" y="4123944"/>
            <a:ext cx="2377440" cy="475488"/>
          </a:xfrm>
          <a:prstGeom prst="rect">
            <a:avLst/>
          </a:prstGeom>
          <a:noFill/>
          <a:ln/>
        </p:spPr>
        <p:txBody>
          <a:bodyPr wrap="square" lIns="0" tIns="0" rIns="0" bIns="0" rtlCol="0" anchor="ctr"/>
          <a:lstStyle/>
          <a:p>
            <a:pPr marL="0" indent="0" algn="ctr">
              <a:buNone/>
            </a:pPr>
            <a:r>
              <a:rPr lang="en-US" sz="1200" b="1" dirty="0">
                <a:solidFill>
                  <a:schemeClr val="bg1"/>
                </a:solidFill>
              </a:rPr>
              <a:t>product, city, month</a:t>
            </a:r>
            <a:endParaRPr lang="en-US" sz="1200" dirty="0"/>
          </a:p>
          <a:p>
            <a:pPr marL="0" indent="0" algn="ctr">
              <a:buNone/>
            </a:pPr>
            <a:r>
              <a:rPr lang="en-US" sz="1000" dirty="0">
                <a:solidFill>
                  <a:schemeClr val="bg1"/>
                </a:solidFill>
              </a:rPr>
              <a:t>27 cells: the base cuboid</a:t>
            </a:r>
            <a:endParaRPr lang="en-US" sz="1200" dirty="0"/>
          </a:p>
        </p:txBody>
      </p:sp>
      <p:sp>
        <p:nvSpPr>
          <p:cNvPr id="32" name="Text 30"/>
          <p:cNvSpPr txBox="1"/>
          <p:nvPr/>
        </p:nvSpPr>
        <p:spPr>
          <a:xfrm>
            <a:off x="548640" y="1874520"/>
            <a:ext cx="457200" cy="475488"/>
          </a:xfrm>
          <a:prstGeom prst="rect">
            <a:avLst/>
          </a:prstGeom>
          <a:noFill/>
          <a:ln/>
        </p:spPr>
        <p:txBody>
          <a:bodyPr wrap="square" lIns="0" tIns="0" rIns="0" bIns="0" rtlCol="0" anchor="ctr"/>
          <a:lstStyle/>
          <a:p>
            <a:pPr marL="0" indent="0">
              <a:buNone/>
            </a:pPr>
            <a:r>
              <a:rPr lang="en-US" sz="1100" b="1" dirty="0">
                <a:solidFill>
                  <a:schemeClr val="accent4"/>
                </a:solidFill>
              </a:rPr>
              <a:t>0-D</a:t>
            </a:r>
            <a:endParaRPr lang="en-US" sz="1100" dirty="0"/>
          </a:p>
        </p:txBody>
      </p:sp>
      <p:sp>
        <p:nvSpPr>
          <p:cNvPr id="33" name="Text 31"/>
          <p:cNvSpPr txBox="1"/>
          <p:nvPr/>
        </p:nvSpPr>
        <p:spPr>
          <a:xfrm>
            <a:off x="548640" y="2624328"/>
            <a:ext cx="457200" cy="475488"/>
          </a:xfrm>
          <a:prstGeom prst="rect">
            <a:avLst/>
          </a:prstGeom>
          <a:noFill/>
          <a:ln/>
        </p:spPr>
        <p:txBody>
          <a:bodyPr wrap="square" lIns="0" tIns="0" rIns="0" bIns="0" rtlCol="0" anchor="ctr"/>
          <a:lstStyle/>
          <a:p>
            <a:pPr marL="0" indent="0">
              <a:buNone/>
            </a:pPr>
            <a:r>
              <a:rPr lang="en-US" sz="1100" b="1" dirty="0">
                <a:solidFill>
                  <a:schemeClr val="accent4"/>
                </a:solidFill>
              </a:rPr>
              <a:t>1-D</a:t>
            </a:r>
            <a:endParaRPr lang="en-US" sz="1100" dirty="0"/>
          </a:p>
        </p:txBody>
      </p:sp>
      <p:sp>
        <p:nvSpPr>
          <p:cNvPr id="34" name="Text 32"/>
          <p:cNvSpPr txBox="1"/>
          <p:nvPr/>
        </p:nvSpPr>
        <p:spPr>
          <a:xfrm>
            <a:off x="548640" y="3374136"/>
            <a:ext cx="457200" cy="475488"/>
          </a:xfrm>
          <a:prstGeom prst="rect">
            <a:avLst/>
          </a:prstGeom>
          <a:noFill/>
          <a:ln/>
        </p:spPr>
        <p:txBody>
          <a:bodyPr wrap="square" lIns="0" tIns="0" rIns="0" bIns="0" rtlCol="0" anchor="ctr"/>
          <a:lstStyle/>
          <a:p>
            <a:pPr marL="0" indent="0">
              <a:buNone/>
            </a:pPr>
            <a:r>
              <a:rPr lang="en-US" sz="1100" b="1" dirty="0">
                <a:solidFill>
                  <a:schemeClr val="accent4"/>
                </a:solidFill>
              </a:rPr>
              <a:t>2-D</a:t>
            </a:r>
            <a:endParaRPr lang="en-US" sz="1100" dirty="0"/>
          </a:p>
        </p:txBody>
      </p:sp>
      <p:sp>
        <p:nvSpPr>
          <p:cNvPr id="35" name="Text 33"/>
          <p:cNvSpPr txBox="1"/>
          <p:nvPr/>
        </p:nvSpPr>
        <p:spPr>
          <a:xfrm>
            <a:off x="548640" y="4123944"/>
            <a:ext cx="457200" cy="475488"/>
          </a:xfrm>
          <a:prstGeom prst="rect">
            <a:avLst/>
          </a:prstGeom>
          <a:noFill/>
          <a:ln/>
        </p:spPr>
        <p:txBody>
          <a:bodyPr wrap="square" lIns="0" tIns="0" rIns="0" bIns="0" rtlCol="0" anchor="ctr"/>
          <a:lstStyle/>
          <a:p>
            <a:pPr marL="0" indent="0">
              <a:buNone/>
            </a:pPr>
            <a:r>
              <a:rPr lang="en-US" sz="1100" b="1" dirty="0">
                <a:solidFill>
                  <a:schemeClr val="accent4"/>
                </a:solidFill>
              </a:rPr>
              <a:t>3-D</a:t>
            </a:r>
            <a:endParaRPr lang="en-US" sz="1100" dirty="0"/>
          </a:p>
        </p:txBody>
      </p:sp>
      <p:sp>
        <p:nvSpPr>
          <p:cNvPr id="36" name="Text 34"/>
          <p:cNvSpPr txBox="1"/>
          <p:nvPr/>
        </p:nvSpPr>
        <p:spPr>
          <a:xfrm>
            <a:off x="548640" y="4690872"/>
            <a:ext cx="5486400" cy="256032"/>
          </a:xfrm>
          <a:prstGeom prst="rect">
            <a:avLst/>
          </a:prstGeom>
          <a:noFill/>
          <a:ln/>
        </p:spPr>
        <p:txBody>
          <a:bodyPr wrap="square" lIns="0" tIns="0" rIns="0" bIns="0" rtlCol="0" anchor="ctr"/>
          <a:lstStyle/>
          <a:p>
            <a:pPr marL="0" indent="0">
              <a:buNone/>
            </a:pPr>
            <a:r>
              <a:rPr lang="en-US" sz="1150" i="1" dirty="0">
                <a:solidFill>
                  <a:schemeClr val="accent4"/>
                </a:solidFill>
              </a:rPr>
              <a:t>Moving up the lattice is a roll-up; moving down is a drill-down. 8 cuboids, 64 cells.</a:t>
            </a:r>
            <a:endParaRPr lang="en-US" sz="1150" dirty="0"/>
          </a:p>
        </p:txBody>
      </p:sp>
      <p:sp>
        <p:nvSpPr>
          <p:cNvPr id="37" name="Text 35"/>
          <p:cNvSpPr txBox="1"/>
          <p:nvPr/>
        </p:nvSpPr>
        <p:spPr>
          <a:xfrm>
            <a:off x="548640" y="5029200"/>
            <a:ext cx="5486400"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WHERE THE CUBE IS STORED</a:t>
            </a:r>
            <a:endParaRPr lang="en-US" sz="1100" dirty="0"/>
          </a:p>
        </p:txBody>
      </p:sp>
      <p:sp>
        <p:nvSpPr>
          <p:cNvPr id="38" name="server-ROLAP"/>
          <p:cNvSpPr/>
          <p:nvPr/>
        </p:nvSpPr>
        <p:spPr>
          <a:xfrm>
            <a:off x="548640" y="5303520"/>
            <a:ext cx="1737360" cy="804672"/>
          </a:xfrm>
          <a:prstGeom prst="roundRect">
            <a:avLst>
              <a:gd name="adj" fmla="val 9091"/>
            </a:avLst>
          </a:prstGeom>
          <a:solidFill>
            <a:schemeClr val="bg2"/>
          </a:solidFill>
          <a:ln w="12700">
            <a:solidFill>
              <a:schemeClr val="bg2"/>
            </a:solidFill>
            <a:prstDash val="solid"/>
          </a:ln>
        </p:spPr>
      </p:sp>
      <p:sp>
        <p:nvSpPr>
          <p:cNvPr id="39" name="Text 37"/>
          <p:cNvSpPr txBox="1"/>
          <p:nvPr/>
        </p:nvSpPr>
        <p:spPr>
          <a:xfrm>
            <a:off x="658368" y="5303520"/>
            <a:ext cx="1536192" cy="804672"/>
          </a:xfrm>
          <a:prstGeom prst="rect">
            <a:avLst/>
          </a:prstGeom>
          <a:noFill/>
          <a:ln/>
        </p:spPr>
        <p:txBody>
          <a:bodyPr wrap="square" lIns="0" tIns="0" rIns="0" bIns="0" rtlCol="0" anchor="ctr"/>
          <a:lstStyle/>
          <a:p>
            <a:pPr marL="0" indent="0">
              <a:buNone/>
            </a:pPr>
            <a:r>
              <a:rPr lang="en-US" sz="1250" b="1" dirty="0">
                <a:solidFill>
                  <a:schemeClr val="tx1"/>
                </a:solidFill>
              </a:rPr>
              <a:t>ROLAP</a:t>
            </a:r>
            <a:endParaRPr lang="en-US" sz="1250" dirty="0"/>
          </a:p>
          <a:p>
            <a:pPr marL="0" indent="0">
              <a:buNone/>
            </a:pPr>
            <a:r>
              <a:rPr lang="en-US" sz="1050" dirty="0">
                <a:solidFill>
                  <a:schemeClr val="accent4"/>
                </a:solidFill>
              </a:rPr>
              <a:t>Relational tables and SQL; scales to very large data</a:t>
            </a:r>
            <a:endParaRPr lang="en-US" sz="1250" dirty="0"/>
          </a:p>
        </p:txBody>
      </p:sp>
      <p:sp>
        <p:nvSpPr>
          <p:cNvPr id="40" name="server-MOLAP"/>
          <p:cNvSpPr/>
          <p:nvPr/>
        </p:nvSpPr>
        <p:spPr>
          <a:xfrm>
            <a:off x="2404872" y="5303520"/>
            <a:ext cx="1737360" cy="804672"/>
          </a:xfrm>
          <a:prstGeom prst="roundRect">
            <a:avLst>
              <a:gd name="adj" fmla="val 9091"/>
            </a:avLst>
          </a:prstGeom>
          <a:solidFill>
            <a:schemeClr val="bg2"/>
          </a:solidFill>
          <a:ln w="12700">
            <a:solidFill>
              <a:schemeClr val="bg2"/>
            </a:solidFill>
            <a:prstDash val="solid"/>
          </a:ln>
        </p:spPr>
      </p:sp>
      <p:sp>
        <p:nvSpPr>
          <p:cNvPr id="41" name="Text 39"/>
          <p:cNvSpPr txBox="1"/>
          <p:nvPr/>
        </p:nvSpPr>
        <p:spPr>
          <a:xfrm>
            <a:off x="2514600" y="5303520"/>
            <a:ext cx="1536192" cy="804672"/>
          </a:xfrm>
          <a:prstGeom prst="rect">
            <a:avLst/>
          </a:prstGeom>
          <a:noFill/>
          <a:ln/>
        </p:spPr>
        <p:txBody>
          <a:bodyPr wrap="square" lIns="0" tIns="0" rIns="0" bIns="0" rtlCol="0" anchor="ctr"/>
          <a:lstStyle/>
          <a:p>
            <a:pPr marL="0" indent="0">
              <a:buNone/>
            </a:pPr>
            <a:r>
              <a:rPr lang="en-US" sz="1250" b="1" dirty="0">
                <a:solidFill>
                  <a:schemeClr val="tx1"/>
                </a:solidFill>
              </a:rPr>
              <a:t>MOLAP</a:t>
            </a:r>
            <a:endParaRPr lang="en-US" sz="1250" dirty="0"/>
          </a:p>
          <a:p>
            <a:pPr marL="0" indent="0">
              <a:buNone/>
            </a:pPr>
            <a:r>
              <a:rPr lang="en-US" sz="1050" dirty="0">
                <a:solidFill>
                  <a:schemeClr val="accent4"/>
                </a:solidFill>
              </a:rPr>
              <a:t>Multidimensional arrays; fastest queries</a:t>
            </a:r>
            <a:endParaRPr lang="en-US" sz="1250" dirty="0"/>
          </a:p>
        </p:txBody>
      </p:sp>
      <p:sp>
        <p:nvSpPr>
          <p:cNvPr id="42" name="server-HOLAP"/>
          <p:cNvSpPr/>
          <p:nvPr/>
        </p:nvSpPr>
        <p:spPr>
          <a:xfrm>
            <a:off x="4261104" y="5303520"/>
            <a:ext cx="1737360" cy="804672"/>
          </a:xfrm>
          <a:prstGeom prst="roundRect">
            <a:avLst>
              <a:gd name="adj" fmla="val 9091"/>
            </a:avLst>
          </a:prstGeom>
          <a:solidFill>
            <a:schemeClr val="bg2"/>
          </a:solidFill>
          <a:ln w="12700">
            <a:solidFill>
              <a:schemeClr val="bg2"/>
            </a:solidFill>
            <a:prstDash val="solid"/>
          </a:ln>
        </p:spPr>
      </p:sp>
      <p:sp>
        <p:nvSpPr>
          <p:cNvPr id="43" name="Text 41"/>
          <p:cNvSpPr txBox="1"/>
          <p:nvPr/>
        </p:nvSpPr>
        <p:spPr>
          <a:xfrm>
            <a:off x="4370832" y="5303520"/>
            <a:ext cx="1536192" cy="804672"/>
          </a:xfrm>
          <a:prstGeom prst="rect">
            <a:avLst/>
          </a:prstGeom>
          <a:noFill/>
          <a:ln/>
        </p:spPr>
        <p:txBody>
          <a:bodyPr wrap="square" lIns="0" tIns="0" rIns="0" bIns="0" rtlCol="0" anchor="ctr"/>
          <a:lstStyle/>
          <a:p>
            <a:pPr marL="0" indent="0">
              <a:buNone/>
            </a:pPr>
            <a:r>
              <a:rPr lang="en-US" sz="1250" b="1" dirty="0">
                <a:solidFill>
                  <a:schemeClr val="tx1"/>
                </a:solidFill>
              </a:rPr>
              <a:t>HOLAP</a:t>
            </a:r>
            <a:endParaRPr lang="en-US" sz="1250" dirty="0"/>
          </a:p>
          <a:p>
            <a:pPr marL="0" indent="0">
              <a:buNone/>
            </a:pPr>
            <a:r>
              <a:rPr lang="en-US" sz="1050" dirty="0">
                <a:solidFill>
                  <a:schemeClr val="accent4"/>
                </a:solidFill>
              </a:rPr>
              <a:t>Detail in ROLAP, summaries in MOLAP</a:t>
            </a:r>
            <a:endParaRPr lang="en-US" sz="1250" dirty="0"/>
          </a:p>
        </p:txBody>
      </p:sp>
      <p:sp>
        <p:nvSpPr>
          <p:cNvPr id="44" name="count"/>
          <p:cNvSpPr/>
          <p:nvPr/>
        </p:nvSpPr>
        <p:spPr>
          <a:xfrm>
            <a:off x="6492240" y="1874520"/>
            <a:ext cx="5148072" cy="1325880"/>
          </a:xfrm>
          <a:prstGeom prst="roundRect">
            <a:avLst>
              <a:gd name="adj" fmla="val 5517"/>
            </a:avLst>
          </a:prstGeom>
          <a:solidFill>
            <a:schemeClr val="tx1"/>
          </a:solidFill>
          <a:ln w="12700">
            <a:solidFill>
              <a:schemeClr val="tx1"/>
            </a:solidFill>
            <a:prstDash val="solid"/>
          </a:ln>
        </p:spPr>
      </p:sp>
      <p:sp>
        <p:nvSpPr>
          <p:cNvPr id="45" name="Text 43"/>
          <p:cNvSpPr txBox="1"/>
          <p:nvPr/>
        </p:nvSpPr>
        <p:spPr>
          <a:xfrm>
            <a:off x="6675120" y="1874520"/>
            <a:ext cx="1234440" cy="132588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2</a:t>
            </a:r>
            <a:r>
              <a:rPr lang="en-US" sz="6000" b="1" baseline="30000" dirty="0">
                <a:solidFill>
                  <a:schemeClr val="bg1"/>
                </a:solidFill>
                <a:latin typeface="Cambria" pitchFamily="34" charset="0"/>
                <a:ea typeface="Cambria" pitchFamily="34" charset="-122"/>
                <a:cs typeface="Cambria" pitchFamily="34" charset="-120"/>
              </a:rPr>
              <a:t>n</a:t>
            </a:r>
            <a:endParaRPr lang="en-US" sz="6000" dirty="0"/>
          </a:p>
        </p:txBody>
      </p:sp>
      <p:sp>
        <p:nvSpPr>
          <p:cNvPr id="46" name="Text 44"/>
          <p:cNvSpPr txBox="1"/>
          <p:nvPr/>
        </p:nvSpPr>
        <p:spPr>
          <a:xfrm>
            <a:off x="7955280" y="1874520"/>
            <a:ext cx="3547872" cy="1325880"/>
          </a:xfrm>
          <a:prstGeom prst="rect">
            <a:avLst/>
          </a:prstGeom>
          <a:noFill/>
          <a:ln/>
        </p:spPr>
        <p:txBody>
          <a:bodyPr wrap="square" lIns="0" tIns="0" rIns="0" bIns="0" rtlCol="0" anchor="ctr"/>
          <a:lstStyle/>
          <a:p>
            <a:pPr marL="0" indent="0">
              <a:spcAft>
                <a:spcPts val="400"/>
              </a:spcAft>
              <a:buNone/>
            </a:pPr>
            <a:r>
              <a:rPr lang="en-US" sz="1400" b="1" dirty="0">
                <a:solidFill>
                  <a:schemeClr val="bg1"/>
                </a:solidFill>
              </a:rPr>
              <a:t>cuboids for n dimensions</a:t>
            </a:r>
            <a:endParaRPr lang="en-US" sz="1400" dirty="0"/>
          </a:p>
          <a:p>
            <a:pPr marL="0" indent="0">
              <a:spcAft>
                <a:spcPts val="400"/>
              </a:spcAft>
              <a:buNone/>
            </a:pPr>
            <a:r>
              <a:rPr lang="en-US" sz="1200" dirty="0">
                <a:solidFill>
                  <a:schemeClr val="accent5"/>
                </a:solidFill>
              </a:rPr>
              <a:t>3 dimensions → 8      10 dimensions → 1,024</a:t>
            </a:r>
            <a:endParaRPr lang="en-US" sz="1400" dirty="0"/>
          </a:p>
          <a:p>
            <a:pPr marL="0" indent="0">
              <a:spcAft>
                <a:spcPts val="400"/>
              </a:spcAft>
              <a:buNone/>
            </a:pPr>
            <a:r>
              <a:rPr lang="en-US" sz="1200" dirty="0">
                <a:solidFill>
                  <a:schemeClr val="accent5"/>
                </a:solidFill>
              </a:rPr>
              <a:t>With hierarchies: ∏ (L</a:t>
            </a:r>
            <a:r>
              <a:rPr lang="en-US" sz="1200" baseline="-40000" dirty="0">
                <a:solidFill>
                  <a:schemeClr val="accent5"/>
                </a:solidFill>
              </a:rPr>
              <a:t>i</a:t>
            </a:r>
            <a:r>
              <a:rPr lang="en-US" sz="1200" dirty="0">
                <a:solidFill>
                  <a:schemeClr val="accent5"/>
                </a:solidFill>
              </a:rPr>
              <a:t> + 1).  10 dimensions of 4 levels each: 5</a:t>
            </a:r>
            <a:r>
              <a:rPr lang="en-US" sz="1200" baseline="30000" dirty="0">
                <a:solidFill>
                  <a:schemeClr val="accent5"/>
                </a:solidFill>
              </a:rPr>
              <a:t>10</a:t>
            </a:r>
            <a:r>
              <a:rPr lang="en-US" sz="1200" dirty="0">
                <a:solidFill>
                  <a:schemeClr val="accent5"/>
                </a:solidFill>
              </a:rPr>
              <a:t> ≈ 9.8 million</a:t>
            </a:r>
            <a:endParaRPr lang="en-US" sz="1400" dirty="0"/>
          </a:p>
        </p:txBody>
      </p:sp>
      <p:sp>
        <p:nvSpPr>
          <p:cNvPr id="47" name="Text 45"/>
          <p:cNvSpPr txBox="1"/>
          <p:nvPr/>
        </p:nvSpPr>
        <p:spPr>
          <a:xfrm>
            <a:off x="6492240" y="3383280"/>
            <a:ext cx="5148072"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WHAT TO PRECOMPUTE</a:t>
            </a:r>
            <a:endParaRPr lang="en-US" sz="1100" dirty="0"/>
          </a:p>
        </p:txBody>
      </p:sp>
      <p:sp>
        <p:nvSpPr>
          <p:cNvPr id="48" name="mat-None"/>
          <p:cNvSpPr/>
          <p:nvPr/>
        </p:nvSpPr>
        <p:spPr>
          <a:xfrm>
            <a:off x="6492240" y="3657600"/>
            <a:ext cx="1624584" cy="1024128"/>
          </a:xfrm>
          <a:prstGeom prst="roundRect">
            <a:avLst>
              <a:gd name="adj" fmla="val 7143"/>
            </a:avLst>
          </a:prstGeom>
          <a:solidFill>
            <a:schemeClr val="bg2"/>
          </a:solidFill>
          <a:ln w="12700">
            <a:solidFill>
              <a:schemeClr val="bg2"/>
            </a:solidFill>
            <a:prstDash val="solid"/>
          </a:ln>
        </p:spPr>
      </p:sp>
      <p:sp>
        <p:nvSpPr>
          <p:cNvPr id="49" name="Text 47"/>
          <p:cNvSpPr txBox="1"/>
          <p:nvPr/>
        </p:nvSpPr>
        <p:spPr>
          <a:xfrm>
            <a:off x="6601968" y="3657600"/>
            <a:ext cx="1405128" cy="1024128"/>
          </a:xfrm>
          <a:prstGeom prst="rect">
            <a:avLst/>
          </a:prstGeom>
          <a:noFill/>
          <a:ln/>
        </p:spPr>
        <p:txBody>
          <a:bodyPr wrap="square" lIns="0" tIns="0" rIns="0" bIns="0" rtlCol="0" anchor="ctr"/>
          <a:lstStyle/>
          <a:p>
            <a:pPr marL="0" indent="0">
              <a:buNone/>
            </a:pPr>
            <a:r>
              <a:rPr lang="en-US" sz="1300" b="1" dirty="0">
                <a:solidFill>
                  <a:schemeClr val="tx1"/>
                </a:solidFill>
              </a:rPr>
              <a:t>None</a:t>
            </a:r>
            <a:endParaRPr lang="en-US" sz="1300" dirty="0"/>
          </a:p>
          <a:p>
            <a:pPr marL="0" indent="0">
              <a:buNone/>
            </a:pPr>
            <a:r>
              <a:rPr lang="en-US" sz="1050" dirty="0">
                <a:solidFill>
                  <a:schemeClr val="accent4"/>
                </a:solidFill>
              </a:rPr>
              <a:t>Aggregate on demand. No extra storage, slow queries.</a:t>
            </a:r>
            <a:endParaRPr lang="en-US" sz="1300" dirty="0"/>
          </a:p>
        </p:txBody>
      </p:sp>
      <p:sp>
        <p:nvSpPr>
          <p:cNvPr id="50" name="mat-Full"/>
          <p:cNvSpPr/>
          <p:nvPr/>
        </p:nvSpPr>
        <p:spPr>
          <a:xfrm>
            <a:off x="8253984" y="3657600"/>
            <a:ext cx="1624584" cy="1024128"/>
          </a:xfrm>
          <a:prstGeom prst="roundRect">
            <a:avLst>
              <a:gd name="adj" fmla="val 7143"/>
            </a:avLst>
          </a:prstGeom>
          <a:solidFill>
            <a:schemeClr val="bg2"/>
          </a:solidFill>
          <a:ln w="12700">
            <a:solidFill>
              <a:schemeClr val="bg2"/>
            </a:solidFill>
            <a:prstDash val="solid"/>
          </a:ln>
        </p:spPr>
      </p:sp>
      <p:sp>
        <p:nvSpPr>
          <p:cNvPr id="51" name="Text 49"/>
          <p:cNvSpPr txBox="1"/>
          <p:nvPr/>
        </p:nvSpPr>
        <p:spPr>
          <a:xfrm>
            <a:off x="8363712" y="3657600"/>
            <a:ext cx="1405128" cy="1024128"/>
          </a:xfrm>
          <a:prstGeom prst="rect">
            <a:avLst/>
          </a:prstGeom>
          <a:noFill/>
          <a:ln/>
        </p:spPr>
        <p:txBody>
          <a:bodyPr wrap="square" lIns="0" tIns="0" rIns="0" bIns="0" rtlCol="0" anchor="ctr"/>
          <a:lstStyle/>
          <a:p>
            <a:pPr marL="0" indent="0">
              <a:buNone/>
            </a:pPr>
            <a:r>
              <a:rPr lang="en-US" sz="1300" b="1" dirty="0">
                <a:solidFill>
                  <a:schemeClr val="tx1"/>
                </a:solidFill>
              </a:rPr>
              <a:t>Full</a:t>
            </a:r>
            <a:endParaRPr lang="en-US" sz="1300" dirty="0"/>
          </a:p>
          <a:p>
            <a:pPr marL="0" indent="0">
              <a:buNone/>
            </a:pPr>
            <a:r>
              <a:rPr lang="en-US" sz="1050" dirty="0">
                <a:solidFill>
                  <a:schemeClr val="accent4"/>
                </a:solidFill>
              </a:rPr>
              <a:t>All cuboids. Fastest queries, most storage.</a:t>
            </a:r>
            <a:endParaRPr lang="en-US" sz="1300" dirty="0"/>
          </a:p>
        </p:txBody>
      </p:sp>
      <p:sp>
        <p:nvSpPr>
          <p:cNvPr id="52" name="mat-Partial"/>
          <p:cNvSpPr/>
          <p:nvPr/>
        </p:nvSpPr>
        <p:spPr>
          <a:xfrm>
            <a:off x="10015728" y="3657600"/>
            <a:ext cx="1624584" cy="1024128"/>
          </a:xfrm>
          <a:prstGeom prst="roundRect">
            <a:avLst>
              <a:gd name="adj" fmla="val 7143"/>
            </a:avLst>
          </a:prstGeom>
          <a:solidFill>
            <a:schemeClr val="accent1"/>
          </a:solidFill>
          <a:ln w="12700">
            <a:solidFill>
              <a:schemeClr val="accent1"/>
            </a:solidFill>
            <a:prstDash val="solid"/>
          </a:ln>
        </p:spPr>
      </p:sp>
      <p:sp>
        <p:nvSpPr>
          <p:cNvPr id="53" name="Text 51"/>
          <p:cNvSpPr txBox="1"/>
          <p:nvPr/>
        </p:nvSpPr>
        <p:spPr>
          <a:xfrm>
            <a:off x="10125456" y="3657600"/>
            <a:ext cx="1405128" cy="1024128"/>
          </a:xfrm>
          <a:prstGeom prst="rect">
            <a:avLst/>
          </a:prstGeom>
          <a:noFill/>
          <a:ln/>
        </p:spPr>
        <p:txBody>
          <a:bodyPr wrap="square" lIns="0" tIns="0" rIns="0" bIns="0" rtlCol="0" anchor="ctr"/>
          <a:lstStyle/>
          <a:p>
            <a:pPr marL="0" indent="0">
              <a:buNone/>
            </a:pPr>
            <a:r>
              <a:rPr lang="en-US" sz="1300" b="1" dirty="0">
                <a:solidFill>
                  <a:schemeClr val="bg1"/>
                </a:solidFill>
              </a:rPr>
              <a:t>Partial</a:t>
            </a:r>
            <a:endParaRPr lang="en-US" sz="1300" dirty="0"/>
          </a:p>
          <a:p>
            <a:pPr marL="0" indent="0">
              <a:buNone/>
            </a:pPr>
            <a:r>
              <a:rPr lang="en-US" sz="1050" dirty="0">
                <a:solidFill>
                  <a:schemeClr val="bg1"/>
                </a:solidFill>
              </a:rPr>
              <a:t>Only useful cuboids, e.g. an iceberg cube. The practical choice.</a:t>
            </a:r>
            <a:endParaRPr lang="en-US" sz="1300" dirty="0"/>
          </a:p>
        </p:txBody>
      </p:sp>
      <p:sp>
        <p:nvSpPr>
          <p:cNvPr id="54" name="Text 52"/>
          <p:cNvSpPr txBox="1"/>
          <p:nvPr/>
        </p:nvSpPr>
        <p:spPr>
          <a:xfrm>
            <a:off x="6492240" y="4846320"/>
            <a:ext cx="5148072"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HOW IT IS COMPUTED</a:t>
            </a:r>
            <a:endParaRPr lang="en-US" sz="1100" dirty="0"/>
          </a:p>
        </p:txBody>
      </p:sp>
      <p:sp>
        <p:nvSpPr>
          <p:cNvPr id="55" name="Text 53"/>
          <p:cNvSpPr txBox="1"/>
          <p:nvPr/>
        </p:nvSpPr>
        <p:spPr>
          <a:xfrm>
            <a:off x="6492240" y="5120640"/>
            <a:ext cx="5148072" cy="292608"/>
          </a:xfrm>
          <a:prstGeom prst="rect">
            <a:avLst/>
          </a:prstGeom>
          <a:noFill/>
          <a:ln/>
        </p:spPr>
        <p:txBody>
          <a:bodyPr wrap="square" lIns="0" tIns="0" rIns="0" bIns="0" rtlCol="0" anchor="ctr"/>
          <a:lstStyle/>
          <a:p>
            <a:pPr marL="0" indent="0">
              <a:buNone/>
            </a:pPr>
            <a:r>
              <a:rPr lang="en-US" sz="1200" b="1" dirty="0">
                <a:solidFill>
                  <a:schemeClr val="tx1"/>
                </a:solidFill>
              </a:rPr>
              <a:t>MultiWay array aggregation</a:t>
            </a:r>
            <a:r>
              <a:rPr lang="en-US" sz="1200" dirty="0">
                <a:solidFill>
                  <a:schemeClr val="accent4"/>
                </a:solidFill>
              </a:rPr>
              <a:t>   full cube from array chunks; suits MOLAP</a:t>
            </a:r>
            <a:endParaRPr lang="en-US" sz="1200" dirty="0"/>
          </a:p>
        </p:txBody>
      </p:sp>
      <p:sp>
        <p:nvSpPr>
          <p:cNvPr id="56" name="Text 54"/>
          <p:cNvSpPr txBox="1"/>
          <p:nvPr/>
        </p:nvSpPr>
        <p:spPr>
          <a:xfrm>
            <a:off x="6492240" y="5458968"/>
            <a:ext cx="5148072" cy="292608"/>
          </a:xfrm>
          <a:prstGeom prst="rect">
            <a:avLst/>
          </a:prstGeom>
          <a:noFill/>
          <a:ln/>
        </p:spPr>
        <p:txBody>
          <a:bodyPr wrap="square" lIns="0" tIns="0" rIns="0" bIns="0" rtlCol="0" anchor="ctr"/>
          <a:lstStyle/>
          <a:p>
            <a:pPr marL="0" indent="0">
              <a:buNone/>
            </a:pPr>
            <a:r>
              <a:rPr lang="en-US" sz="1200" b="1" dirty="0">
                <a:solidFill>
                  <a:schemeClr val="tx1"/>
                </a:solidFill>
              </a:rPr>
              <a:t>BUC</a:t>
            </a:r>
            <a:r>
              <a:rPr lang="en-US" sz="1200" dirty="0">
                <a:solidFill>
                  <a:schemeClr val="accent4"/>
                </a:solidFill>
              </a:rPr>
              <a:t>   iceberg cube; prunes cells below minimum support (Apriori)</a:t>
            </a:r>
            <a:endParaRPr lang="en-US" sz="1200" dirty="0"/>
          </a:p>
        </p:txBody>
      </p:sp>
      <p:sp>
        <p:nvSpPr>
          <p:cNvPr id="57" name="Text 55"/>
          <p:cNvSpPr txBox="1"/>
          <p:nvPr/>
        </p:nvSpPr>
        <p:spPr>
          <a:xfrm>
            <a:off x="6492240" y="5797296"/>
            <a:ext cx="5148072" cy="292608"/>
          </a:xfrm>
          <a:prstGeom prst="rect">
            <a:avLst/>
          </a:prstGeom>
          <a:noFill/>
          <a:ln/>
        </p:spPr>
        <p:txBody>
          <a:bodyPr wrap="square" lIns="0" tIns="0" rIns="0" bIns="0" rtlCol="0" anchor="ctr"/>
          <a:lstStyle/>
          <a:p>
            <a:pPr marL="0" indent="0">
              <a:buNone/>
            </a:pPr>
            <a:r>
              <a:rPr lang="en-US" sz="1200" b="1" dirty="0">
                <a:solidFill>
                  <a:schemeClr val="tx1"/>
                </a:solidFill>
              </a:rPr>
              <a:t>Star-Cubing</a:t>
            </a:r>
            <a:r>
              <a:rPr lang="en-US" sz="1200" dirty="0">
                <a:solidFill>
                  <a:schemeClr val="accent4"/>
                </a:solidFill>
              </a:rPr>
              <a:t>   combines both ideas using star-tree structures</a:t>
            </a:r>
            <a:endParaRPr lang="en-US" sz="1200" dirty="0"/>
          </a:p>
        </p:txBody>
      </p:sp>
      <p:sp>
        <p:nvSpPr>
          <p:cNvPr id="58"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3" hasCustomPrompt="1"/>
          </p:nvPr>
        </p:nvSpPr>
        <p:spPr>
          <a:xfrm>
            <a:off x="548640" y="411480"/>
            <a:ext cx="8229600" cy="274320"/>
          </a:xfrm>
          <a:prstGeom prst="rect">
            <a:avLst/>
          </a:prstGeom>
          <a:noFill/>
          <a:ln/>
        </p:spPr>
        <p:txBody>
          <a:bodyPr wrap="square" lIns="0" tIns="0" rIns="0" bIns="0" rtlCol="0"/>
          <a:lstStyle/>
          <a:p>
            <a:pPr marL="0" indent="0">
              <a:buNone/>
            </a:pPr>
            <a:r>
              <a:rPr lang="en-US" sz="1200" b="1" kern="0" spc="300" dirty="0">
                <a:solidFill>
                  <a:schemeClr val="accent3"/>
                </a:solidFill>
              </a:rPr>
              <a:t>06  ·  CONCLUSION</a:t>
            </a:r>
            <a:endParaRPr lang="en-US" sz="1200" dirty="0"/>
          </a:p>
        </p:txBody>
      </p:sp>
      <p:sp>
        <p:nvSpPr>
          <p:cNvPr id="3" name="Text 1"/>
          <p:cNvSpPr>
            <a:spLocks noGrp="1"/>
          </p:cNvSpPr>
          <p:nvPr>
            <p:ph type="title" idx="104" hasCustomPrompt="1"/>
          </p:nvPr>
        </p:nvSpPr>
        <p:spPr>
          <a:xfrm>
            <a:off x="548640" y="749808"/>
            <a:ext cx="9509760" cy="960120"/>
          </a:xfrm>
          <a:prstGeom prst="rect">
            <a:avLst/>
          </a:prstGeom>
          <a:noFill/>
          <a:ln/>
        </p:spPr>
        <p:txBody>
          <a:bodyPr wrap="square" lIns="0" tIns="0" rIns="0" bIns="0" rtlCol="0" anchor="t"/>
          <a:lstStyle/>
          <a:p>
            <a:pPr marL="0" indent="0" algn="l">
              <a:buNone/>
            </a:pPr>
            <a:r>
              <a:rPr lang="en-US" sz="3000" b="1" dirty="0">
                <a:solidFill>
                  <a:schemeClr val="tx1"/>
                </a:solidFill>
              </a:rPr>
              <a:t>OLAP turns stored data into answers, from any angle</a:t>
            </a:r>
            <a:endParaRPr lang="en-US" sz="3000" dirty="0"/>
          </a:p>
        </p:txBody>
      </p:sp>
      <p:sp>
        <p:nvSpPr>
          <p:cNvPr id="4" name="Text 2"/>
          <p:cNvSpPr txBox="1"/>
          <p:nvPr/>
        </p:nvSpPr>
        <p:spPr>
          <a:xfrm>
            <a:off x="548640" y="19202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325880" y="1874520"/>
            <a:ext cx="4480560" cy="292608"/>
          </a:xfrm>
          <a:prstGeom prst="rect">
            <a:avLst/>
          </a:prstGeom>
          <a:noFill/>
          <a:ln/>
        </p:spPr>
        <p:txBody>
          <a:bodyPr wrap="square" lIns="0" tIns="0" rIns="0" bIns="0" rtlCol="0" anchor="ctr"/>
          <a:lstStyle/>
          <a:p>
            <a:pPr marL="0" indent="0">
              <a:buNone/>
            </a:pPr>
            <a:r>
              <a:rPr lang="en-US" sz="1700" b="1" dirty="0">
                <a:solidFill>
                  <a:schemeClr val="tx1"/>
                </a:solidFill>
              </a:rPr>
              <a:t>Model</a:t>
            </a:r>
            <a:endParaRPr lang="en-US" sz="1700" dirty="0"/>
          </a:p>
        </p:txBody>
      </p:sp>
      <p:sp>
        <p:nvSpPr>
          <p:cNvPr id="6" name="Text 4"/>
          <p:cNvSpPr txBox="1"/>
          <p:nvPr/>
        </p:nvSpPr>
        <p:spPr>
          <a:xfrm>
            <a:off x="1325880" y="2176272"/>
            <a:ext cx="4480560" cy="457200"/>
          </a:xfrm>
          <a:prstGeom prst="rect">
            <a:avLst/>
          </a:prstGeom>
          <a:noFill/>
          <a:ln/>
        </p:spPr>
        <p:txBody>
          <a:bodyPr wrap="square" lIns="0" tIns="0" rIns="0" bIns="0" rtlCol="0" anchor="t"/>
          <a:lstStyle/>
          <a:p>
            <a:pPr marL="0" indent="0">
              <a:buNone/>
            </a:pPr>
            <a:r>
              <a:rPr lang="en-US" sz="1300" dirty="0">
                <a:solidFill>
                  <a:schemeClr val="accent4"/>
                </a:solidFill>
              </a:rPr>
              <a:t>A data cube organises a measure by dimensions and their hierarchies.</a:t>
            </a:r>
            <a:endParaRPr lang="en-US" sz="1300" dirty="0"/>
          </a:p>
        </p:txBody>
      </p:sp>
      <p:sp>
        <p:nvSpPr>
          <p:cNvPr id="7" name="Text 5"/>
          <p:cNvSpPr txBox="1"/>
          <p:nvPr/>
        </p:nvSpPr>
        <p:spPr>
          <a:xfrm>
            <a:off x="548640" y="2816352"/>
            <a:ext cx="548640" cy="54864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8" name="Text 6"/>
          <p:cNvSpPr txBox="1"/>
          <p:nvPr/>
        </p:nvSpPr>
        <p:spPr>
          <a:xfrm>
            <a:off x="1325880" y="2770632"/>
            <a:ext cx="4480560" cy="292608"/>
          </a:xfrm>
          <a:prstGeom prst="rect">
            <a:avLst/>
          </a:prstGeom>
          <a:noFill/>
          <a:ln/>
        </p:spPr>
        <p:txBody>
          <a:bodyPr wrap="square" lIns="0" tIns="0" rIns="0" bIns="0" rtlCol="0" anchor="ctr"/>
          <a:lstStyle/>
          <a:p>
            <a:pPr marL="0" indent="0">
              <a:buNone/>
            </a:pPr>
            <a:r>
              <a:rPr lang="en-US" sz="1700" b="1" dirty="0">
                <a:solidFill>
                  <a:schemeClr val="tx1"/>
                </a:solidFill>
              </a:rPr>
              <a:t>Navigate</a:t>
            </a:r>
            <a:endParaRPr lang="en-US" sz="1700" dirty="0"/>
          </a:p>
        </p:txBody>
      </p:sp>
      <p:sp>
        <p:nvSpPr>
          <p:cNvPr id="9" name="Text 7"/>
          <p:cNvSpPr txBox="1"/>
          <p:nvPr/>
        </p:nvSpPr>
        <p:spPr>
          <a:xfrm>
            <a:off x="1325880" y="3072384"/>
            <a:ext cx="4480560" cy="457200"/>
          </a:xfrm>
          <a:prstGeom prst="rect">
            <a:avLst/>
          </a:prstGeom>
          <a:noFill/>
          <a:ln/>
        </p:spPr>
        <p:txBody>
          <a:bodyPr wrap="square" lIns="0" tIns="0" rIns="0" bIns="0" rtlCol="0" anchor="t"/>
          <a:lstStyle/>
          <a:p>
            <a:pPr marL="0" indent="0">
              <a:buNone/>
            </a:pPr>
            <a:r>
              <a:rPr lang="en-US" sz="1300" dirty="0">
                <a:solidFill>
                  <a:schemeClr val="accent4"/>
                </a:solidFill>
              </a:rPr>
              <a:t>Roll-up, drill-down, slice, dice and pivot change the view, never the data.</a:t>
            </a:r>
            <a:endParaRPr lang="en-US" sz="1300" dirty="0"/>
          </a:p>
        </p:txBody>
      </p:sp>
      <p:sp>
        <p:nvSpPr>
          <p:cNvPr id="10" name="Text 8"/>
          <p:cNvSpPr txBox="1"/>
          <p:nvPr/>
        </p:nvSpPr>
        <p:spPr>
          <a:xfrm>
            <a:off x="548640" y="3712464"/>
            <a:ext cx="548640" cy="548640"/>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1" name="Text 9"/>
          <p:cNvSpPr txBox="1"/>
          <p:nvPr/>
        </p:nvSpPr>
        <p:spPr>
          <a:xfrm>
            <a:off x="1325880" y="3666744"/>
            <a:ext cx="4480560" cy="292608"/>
          </a:xfrm>
          <a:prstGeom prst="rect">
            <a:avLst/>
          </a:prstGeom>
          <a:noFill/>
          <a:ln/>
        </p:spPr>
        <p:txBody>
          <a:bodyPr wrap="square" lIns="0" tIns="0" rIns="0" bIns="0" rtlCol="0" anchor="ctr"/>
          <a:lstStyle/>
          <a:p>
            <a:pPr marL="0" indent="0">
              <a:buNone/>
            </a:pPr>
            <a:r>
              <a:rPr lang="en-US" sz="1700" b="1" dirty="0">
                <a:solidFill>
                  <a:schemeClr val="tx1"/>
                </a:solidFill>
              </a:rPr>
              <a:t>Engineer</a:t>
            </a:r>
            <a:endParaRPr lang="en-US" sz="1700" dirty="0"/>
          </a:p>
        </p:txBody>
      </p:sp>
      <p:sp>
        <p:nvSpPr>
          <p:cNvPr id="12" name="Text 10"/>
          <p:cNvSpPr txBox="1"/>
          <p:nvPr/>
        </p:nvSpPr>
        <p:spPr>
          <a:xfrm>
            <a:off x="1325880" y="3968496"/>
            <a:ext cx="4480560" cy="457200"/>
          </a:xfrm>
          <a:prstGeom prst="rect">
            <a:avLst/>
          </a:prstGeom>
          <a:noFill/>
          <a:ln/>
        </p:spPr>
        <p:txBody>
          <a:bodyPr wrap="square" lIns="0" tIns="0" rIns="0" bIns="0" rtlCol="0" anchor="t"/>
          <a:lstStyle/>
          <a:p>
            <a:pPr marL="0" indent="0">
              <a:buNone/>
            </a:pPr>
            <a:r>
              <a:rPr lang="en-US" sz="1300" dirty="0">
                <a:solidFill>
                  <a:schemeClr val="accent4"/>
                </a:solidFill>
              </a:rPr>
              <a:t>2</a:t>
            </a:r>
            <a:r>
              <a:rPr lang="en-US" sz="1300" baseline="30000" dirty="0">
                <a:solidFill>
                  <a:schemeClr val="accent4"/>
                </a:solidFill>
              </a:rPr>
              <a:t>n</a:t>
            </a:r>
            <a:r>
              <a:rPr lang="en-US" sz="1300" dirty="0">
                <a:solidFill>
                  <a:schemeClr val="accent4"/>
                </a:solidFill>
              </a:rPr>
              <a:t> cuboids force a choice: what to precompute and where to store it.</a:t>
            </a:r>
            <a:endParaRPr lang="en-US" sz="1300" dirty="0"/>
          </a:p>
        </p:txBody>
      </p:sp>
      <p:sp>
        <p:nvSpPr>
          <p:cNvPr id="13" name="Text 11"/>
          <p:cNvSpPr txBox="1"/>
          <p:nvPr/>
        </p:nvSpPr>
        <p:spPr>
          <a:xfrm>
            <a:off x="548640" y="4617720"/>
            <a:ext cx="5120640" cy="4114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Thank you. Questions?</a:t>
            </a:r>
            <a:endParaRPr lang="en-US" sz="2400" dirty="0"/>
          </a:p>
        </p:txBody>
      </p:sp>
      <p:sp>
        <p:nvSpPr>
          <p:cNvPr id="14" name="Text 12"/>
          <p:cNvSpPr txBox="1"/>
          <p:nvPr/>
        </p:nvSpPr>
        <p:spPr>
          <a:xfrm>
            <a:off x="6309360" y="1874520"/>
            <a:ext cx="5303520"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WHERE IT IS USED</a:t>
            </a:r>
            <a:endParaRPr lang="en-US" sz="1100" dirty="0"/>
          </a:p>
        </p:txBody>
      </p:sp>
      <p:sp>
        <p:nvSpPr>
          <p:cNvPr id="15" name="use-Retail"/>
          <p:cNvSpPr/>
          <p:nvPr/>
        </p:nvSpPr>
        <p:spPr>
          <a:xfrm>
            <a:off x="6309360" y="2194560"/>
            <a:ext cx="2596896" cy="768096"/>
          </a:xfrm>
          <a:prstGeom prst="roundRect">
            <a:avLst>
              <a:gd name="adj" fmla="val 9524"/>
            </a:avLst>
          </a:prstGeom>
          <a:solidFill>
            <a:schemeClr val="bg2"/>
          </a:solidFill>
          <a:ln w="12700">
            <a:solidFill>
              <a:schemeClr val="bg2"/>
            </a:solidFill>
            <a:prstDash val="solid"/>
          </a:ln>
        </p:spPr>
      </p:sp>
      <p:sp>
        <p:nvSpPr>
          <p:cNvPr id="16" name="Shape 14"/>
          <p:cNvSpPr/>
          <p:nvPr/>
        </p:nvSpPr>
        <p:spPr>
          <a:xfrm>
            <a:off x="6446520" y="2350008"/>
            <a:ext cx="457200" cy="457200"/>
          </a:xfrm>
          <a:prstGeom prst="ellipse">
            <a:avLst/>
          </a:prstGeom>
          <a:solidFill>
            <a:schemeClr val="accent1"/>
          </a:solidFill>
          <a:ln w="12700">
            <a:solidFill>
              <a:schemeClr val="accent1"/>
            </a:solidFill>
            <a:prstDash val="solid"/>
          </a:ln>
        </p:spPr>
      </p:sp>
      <p:pic>
        <p:nvPicPr>
          <p:cNvPr id="17" name="Image 0" descr="preencoded.png"/>
          <p:cNvPicPr>
            <a:picLocks noChangeAspect="1"/>
          </p:cNvPicPr>
          <p:nvPr/>
        </p:nvPicPr>
        <p:blipFill>
          <a:blip r:embed="rId3"/>
          <a:stretch>
            <a:fillRect/>
          </a:stretch>
        </p:blipFill>
        <p:spPr>
          <a:xfrm>
            <a:off x="6565392" y="2468880"/>
            <a:ext cx="219456" cy="219456"/>
          </a:xfrm>
          <a:prstGeom prst="rect">
            <a:avLst/>
          </a:prstGeom>
        </p:spPr>
      </p:pic>
      <p:sp>
        <p:nvSpPr>
          <p:cNvPr id="18" name="Text 15"/>
          <p:cNvSpPr txBox="1"/>
          <p:nvPr/>
        </p:nvSpPr>
        <p:spPr>
          <a:xfrm>
            <a:off x="7040880" y="2194560"/>
            <a:ext cx="1783080" cy="768096"/>
          </a:xfrm>
          <a:prstGeom prst="rect">
            <a:avLst/>
          </a:prstGeom>
          <a:noFill/>
          <a:ln/>
        </p:spPr>
        <p:txBody>
          <a:bodyPr wrap="square" lIns="0" tIns="0" rIns="0" bIns="0" rtlCol="0" anchor="ctr"/>
          <a:lstStyle/>
          <a:p>
            <a:pPr marL="0" indent="0">
              <a:buNone/>
            </a:pPr>
            <a:r>
              <a:rPr lang="en-US" sz="1300" b="1" dirty="0">
                <a:solidFill>
                  <a:schemeClr val="tx1"/>
                </a:solidFill>
              </a:rPr>
              <a:t>Retail</a:t>
            </a:r>
            <a:endParaRPr lang="en-US" sz="1300" dirty="0"/>
          </a:p>
          <a:p>
            <a:pPr marL="0" indent="0">
              <a:buNone/>
            </a:pPr>
            <a:r>
              <a:rPr lang="en-US" sz="1050" dirty="0">
                <a:solidFill>
                  <a:schemeClr val="accent4"/>
                </a:solidFill>
              </a:rPr>
              <a:t>Sales by product, store and season</a:t>
            </a:r>
            <a:endParaRPr lang="en-US" sz="1300" dirty="0"/>
          </a:p>
        </p:txBody>
      </p:sp>
      <p:sp>
        <p:nvSpPr>
          <p:cNvPr id="19" name="use-Banking"/>
          <p:cNvSpPr/>
          <p:nvPr/>
        </p:nvSpPr>
        <p:spPr>
          <a:xfrm>
            <a:off x="9043416" y="2194560"/>
            <a:ext cx="2596896" cy="768096"/>
          </a:xfrm>
          <a:prstGeom prst="roundRect">
            <a:avLst>
              <a:gd name="adj" fmla="val 9524"/>
            </a:avLst>
          </a:prstGeom>
          <a:solidFill>
            <a:schemeClr val="bg2"/>
          </a:solidFill>
          <a:ln w="12700">
            <a:solidFill>
              <a:schemeClr val="bg2"/>
            </a:solidFill>
            <a:prstDash val="solid"/>
          </a:ln>
        </p:spPr>
      </p:sp>
      <p:sp>
        <p:nvSpPr>
          <p:cNvPr id="20" name="Shape 17"/>
          <p:cNvSpPr/>
          <p:nvPr/>
        </p:nvSpPr>
        <p:spPr>
          <a:xfrm>
            <a:off x="9180576" y="2350008"/>
            <a:ext cx="457200" cy="457200"/>
          </a:xfrm>
          <a:prstGeom prst="ellipse">
            <a:avLst/>
          </a:prstGeom>
          <a:solidFill>
            <a:schemeClr val="accent1"/>
          </a:solidFill>
          <a:ln w="12700">
            <a:solidFill>
              <a:schemeClr val="accent1"/>
            </a:solidFill>
            <a:prstDash val="solid"/>
          </a:ln>
        </p:spPr>
      </p:sp>
      <p:pic>
        <p:nvPicPr>
          <p:cNvPr id="21" name="Image 1" descr="preencoded.png"/>
          <p:cNvPicPr>
            <a:picLocks noChangeAspect="1"/>
          </p:cNvPicPr>
          <p:nvPr/>
        </p:nvPicPr>
        <p:blipFill>
          <a:blip r:embed="rId4"/>
          <a:stretch>
            <a:fillRect/>
          </a:stretch>
        </p:blipFill>
        <p:spPr>
          <a:xfrm>
            <a:off x="9299448" y="2468880"/>
            <a:ext cx="219456" cy="219456"/>
          </a:xfrm>
          <a:prstGeom prst="rect">
            <a:avLst/>
          </a:prstGeom>
        </p:spPr>
      </p:pic>
      <p:sp>
        <p:nvSpPr>
          <p:cNvPr id="22" name="Text 18"/>
          <p:cNvSpPr txBox="1"/>
          <p:nvPr/>
        </p:nvSpPr>
        <p:spPr>
          <a:xfrm>
            <a:off x="9774936" y="2194560"/>
            <a:ext cx="1783080" cy="768096"/>
          </a:xfrm>
          <a:prstGeom prst="rect">
            <a:avLst/>
          </a:prstGeom>
          <a:noFill/>
          <a:ln/>
        </p:spPr>
        <p:txBody>
          <a:bodyPr wrap="square" lIns="0" tIns="0" rIns="0" bIns="0" rtlCol="0" anchor="ctr"/>
          <a:lstStyle/>
          <a:p>
            <a:pPr marL="0" indent="0">
              <a:buNone/>
            </a:pPr>
            <a:r>
              <a:rPr lang="en-US" sz="1300" b="1" dirty="0">
                <a:solidFill>
                  <a:schemeClr val="tx1"/>
                </a:solidFill>
              </a:rPr>
              <a:t>Banking</a:t>
            </a:r>
            <a:endParaRPr lang="en-US" sz="1300" dirty="0"/>
          </a:p>
          <a:p>
            <a:pPr marL="0" indent="0">
              <a:buNone/>
            </a:pPr>
            <a:r>
              <a:rPr lang="en-US" sz="1050" dirty="0">
                <a:solidFill>
                  <a:schemeClr val="accent4"/>
                </a:solidFill>
              </a:rPr>
              <a:t>Risk and fraud trends by branch and time</a:t>
            </a:r>
            <a:endParaRPr lang="en-US" sz="1300" dirty="0"/>
          </a:p>
        </p:txBody>
      </p:sp>
      <p:sp>
        <p:nvSpPr>
          <p:cNvPr id="23" name="use-Healthcare"/>
          <p:cNvSpPr/>
          <p:nvPr/>
        </p:nvSpPr>
        <p:spPr>
          <a:xfrm>
            <a:off x="6309360" y="3090672"/>
            <a:ext cx="2596896" cy="768096"/>
          </a:xfrm>
          <a:prstGeom prst="roundRect">
            <a:avLst>
              <a:gd name="adj" fmla="val 9524"/>
            </a:avLst>
          </a:prstGeom>
          <a:solidFill>
            <a:schemeClr val="bg2"/>
          </a:solidFill>
          <a:ln w="12700">
            <a:solidFill>
              <a:schemeClr val="bg2"/>
            </a:solidFill>
            <a:prstDash val="solid"/>
          </a:ln>
        </p:spPr>
      </p:sp>
      <p:sp>
        <p:nvSpPr>
          <p:cNvPr id="24" name="Shape 20"/>
          <p:cNvSpPr/>
          <p:nvPr/>
        </p:nvSpPr>
        <p:spPr>
          <a:xfrm>
            <a:off x="6446520" y="3246120"/>
            <a:ext cx="457200" cy="457200"/>
          </a:xfrm>
          <a:prstGeom prst="ellipse">
            <a:avLst/>
          </a:prstGeom>
          <a:solidFill>
            <a:schemeClr val="accent1"/>
          </a:solidFill>
          <a:ln w="12700">
            <a:solidFill>
              <a:schemeClr val="accent1"/>
            </a:solidFill>
            <a:prstDash val="solid"/>
          </a:ln>
        </p:spPr>
      </p:sp>
      <p:pic>
        <p:nvPicPr>
          <p:cNvPr id="25" name="Image 2" descr="preencoded.png"/>
          <p:cNvPicPr>
            <a:picLocks noChangeAspect="1"/>
          </p:cNvPicPr>
          <p:nvPr/>
        </p:nvPicPr>
        <p:blipFill>
          <a:blip r:embed="rId5"/>
          <a:stretch>
            <a:fillRect/>
          </a:stretch>
        </p:blipFill>
        <p:spPr>
          <a:xfrm>
            <a:off x="6565392" y="3364992"/>
            <a:ext cx="219456" cy="219456"/>
          </a:xfrm>
          <a:prstGeom prst="rect">
            <a:avLst/>
          </a:prstGeom>
        </p:spPr>
      </p:pic>
      <p:sp>
        <p:nvSpPr>
          <p:cNvPr id="26" name="Text 21"/>
          <p:cNvSpPr txBox="1"/>
          <p:nvPr/>
        </p:nvSpPr>
        <p:spPr>
          <a:xfrm>
            <a:off x="7040880" y="3090672"/>
            <a:ext cx="1783080" cy="768096"/>
          </a:xfrm>
          <a:prstGeom prst="rect">
            <a:avLst/>
          </a:prstGeom>
          <a:noFill/>
          <a:ln/>
        </p:spPr>
        <p:txBody>
          <a:bodyPr wrap="square" lIns="0" tIns="0" rIns="0" bIns="0" rtlCol="0" anchor="ctr"/>
          <a:lstStyle/>
          <a:p>
            <a:pPr marL="0" indent="0">
              <a:buNone/>
            </a:pPr>
            <a:r>
              <a:rPr lang="en-US" sz="1300" b="1" dirty="0">
                <a:solidFill>
                  <a:schemeClr val="tx1"/>
                </a:solidFill>
              </a:rPr>
              <a:t>Healthcare</a:t>
            </a:r>
            <a:endParaRPr lang="en-US" sz="1300" dirty="0"/>
          </a:p>
          <a:p>
            <a:pPr marL="0" indent="0">
              <a:buNone/>
            </a:pPr>
            <a:r>
              <a:rPr lang="en-US" sz="1050" dirty="0">
                <a:solidFill>
                  <a:schemeClr val="accent4"/>
                </a:solidFill>
              </a:rPr>
              <a:t>Bed occupancy by ward and month</a:t>
            </a:r>
            <a:endParaRPr lang="en-US" sz="1300" dirty="0"/>
          </a:p>
        </p:txBody>
      </p:sp>
      <p:sp>
        <p:nvSpPr>
          <p:cNvPr id="27" name="use-Education"/>
          <p:cNvSpPr/>
          <p:nvPr/>
        </p:nvSpPr>
        <p:spPr>
          <a:xfrm>
            <a:off x="9043416" y="3090672"/>
            <a:ext cx="2596896" cy="768096"/>
          </a:xfrm>
          <a:prstGeom prst="roundRect">
            <a:avLst>
              <a:gd name="adj" fmla="val 9524"/>
            </a:avLst>
          </a:prstGeom>
          <a:solidFill>
            <a:schemeClr val="bg2"/>
          </a:solidFill>
          <a:ln w="12700">
            <a:solidFill>
              <a:schemeClr val="bg2"/>
            </a:solidFill>
            <a:prstDash val="solid"/>
          </a:ln>
        </p:spPr>
      </p:sp>
      <p:sp>
        <p:nvSpPr>
          <p:cNvPr id="28" name="Shape 23"/>
          <p:cNvSpPr/>
          <p:nvPr/>
        </p:nvSpPr>
        <p:spPr>
          <a:xfrm>
            <a:off x="9180576" y="3246120"/>
            <a:ext cx="457200" cy="457200"/>
          </a:xfrm>
          <a:prstGeom prst="ellipse">
            <a:avLst/>
          </a:prstGeom>
          <a:solidFill>
            <a:schemeClr val="accent1"/>
          </a:solidFill>
          <a:ln w="12700">
            <a:solidFill>
              <a:schemeClr val="accent1"/>
            </a:solidFill>
            <a:prstDash val="solid"/>
          </a:ln>
        </p:spPr>
      </p:sp>
      <p:pic>
        <p:nvPicPr>
          <p:cNvPr id="29" name="Image 3" descr="preencoded.png"/>
          <p:cNvPicPr>
            <a:picLocks noChangeAspect="1"/>
          </p:cNvPicPr>
          <p:nvPr/>
        </p:nvPicPr>
        <p:blipFill>
          <a:blip r:embed="rId6"/>
          <a:stretch>
            <a:fillRect/>
          </a:stretch>
        </p:blipFill>
        <p:spPr>
          <a:xfrm>
            <a:off x="9299448" y="3364992"/>
            <a:ext cx="219456" cy="219456"/>
          </a:xfrm>
          <a:prstGeom prst="rect">
            <a:avLst/>
          </a:prstGeom>
        </p:spPr>
      </p:pic>
      <p:sp>
        <p:nvSpPr>
          <p:cNvPr id="30" name="Text 24"/>
          <p:cNvSpPr txBox="1"/>
          <p:nvPr/>
        </p:nvSpPr>
        <p:spPr>
          <a:xfrm>
            <a:off x="9774936" y="3090672"/>
            <a:ext cx="1783080" cy="768096"/>
          </a:xfrm>
          <a:prstGeom prst="rect">
            <a:avLst/>
          </a:prstGeom>
          <a:noFill/>
          <a:ln/>
        </p:spPr>
        <p:txBody>
          <a:bodyPr wrap="square" lIns="0" tIns="0" rIns="0" bIns="0" rtlCol="0" anchor="ctr"/>
          <a:lstStyle/>
          <a:p>
            <a:pPr marL="0" indent="0">
              <a:buNone/>
            </a:pPr>
            <a:r>
              <a:rPr lang="en-US" sz="1300" b="1" dirty="0">
                <a:solidFill>
                  <a:schemeClr val="tx1"/>
                </a:solidFill>
              </a:rPr>
              <a:t>Education</a:t>
            </a:r>
            <a:endParaRPr lang="en-US" sz="1300" dirty="0"/>
          </a:p>
          <a:p>
            <a:pPr marL="0" indent="0">
              <a:buNone/>
            </a:pPr>
            <a:r>
              <a:rPr lang="en-US" sz="1050" dirty="0">
                <a:solidFill>
                  <a:schemeClr val="accent4"/>
                </a:solidFill>
              </a:rPr>
              <a:t>Results by department and semester</a:t>
            </a:r>
            <a:endParaRPr lang="en-US" sz="1300" dirty="0"/>
          </a:p>
        </p:txBody>
      </p:sp>
      <p:sp>
        <p:nvSpPr>
          <p:cNvPr id="31" name="responsible-use"/>
          <p:cNvSpPr/>
          <p:nvPr/>
        </p:nvSpPr>
        <p:spPr>
          <a:xfrm>
            <a:off x="6309360" y="4041648"/>
            <a:ext cx="5330952" cy="987552"/>
          </a:xfrm>
          <a:prstGeom prst="roundRect">
            <a:avLst>
              <a:gd name="adj" fmla="val 7407"/>
            </a:avLst>
          </a:prstGeom>
          <a:solidFill>
            <a:schemeClr val="tx1"/>
          </a:solidFill>
          <a:ln w="12700">
            <a:solidFill>
              <a:schemeClr val="tx1"/>
            </a:solidFill>
            <a:prstDash val="solid"/>
          </a:ln>
        </p:spPr>
      </p:sp>
      <p:pic>
        <p:nvPicPr>
          <p:cNvPr id="32" name="Image 4" descr="preencoded.png"/>
          <p:cNvPicPr>
            <a:picLocks noChangeAspect="1"/>
          </p:cNvPicPr>
          <p:nvPr/>
        </p:nvPicPr>
        <p:blipFill>
          <a:blip r:embed="rId7"/>
          <a:stretch>
            <a:fillRect/>
          </a:stretch>
        </p:blipFill>
        <p:spPr>
          <a:xfrm>
            <a:off x="6492240" y="4352544"/>
            <a:ext cx="365760" cy="365760"/>
          </a:xfrm>
          <a:prstGeom prst="rect">
            <a:avLst/>
          </a:prstGeom>
        </p:spPr>
      </p:pic>
      <p:sp>
        <p:nvSpPr>
          <p:cNvPr id="33" name="Text 26"/>
          <p:cNvSpPr txBox="1"/>
          <p:nvPr/>
        </p:nvSpPr>
        <p:spPr>
          <a:xfrm>
            <a:off x="7040880" y="4041648"/>
            <a:ext cx="4480560" cy="987552"/>
          </a:xfrm>
          <a:prstGeom prst="rect">
            <a:avLst/>
          </a:prstGeom>
          <a:noFill/>
          <a:ln/>
        </p:spPr>
        <p:txBody>
          <a:bodyPr wrap="square" lIns="0" tIns="0" rIns="0" bIns="0" rtlCol="0" anchor="ctr"/>
          <a:lstStyle/>
          <a:p>
            <a:pPr marL="0" indent="0">
              <a:buNone/>
            </a:pPr>
            <a:r>
              <a:rPr lang="en-US" sz="1300" b="1" dirty="0">
                <a:solidFill>
                  <a:schemeClr val="bg1"/>
                </a:solidFill>
              </a:rPr>
              <a:t>Responsible use</a:t>
            </a:r>
            <a:endParaRPr lang="en-US" sz="1300" dirty="0"/>
          </a:p>
          <a:p>
            <a:pPr marL="0" indent="0">
              <a:buNone/>
            </a:pPr>
            <a:r>
              <a:rPr lang="en-US" sz="1100" dirty="0">
                <a:solidFill>
                  <a:schemeClr val="accent5"/>
                </a:solidFill>
              </a:rPr>
              <a:t>Small groups can still expose individuals after aggregation. Limit how far users can drill down and apply role-based access.</a:t>
            </a:r>
            <a:endParaRPr lang="en-US" sz="1300" dirty="0"/>
          </a:p>
        </p:txBody>
      </p:sp>
      <p:sp>
        <p:nvSpPr>
          <p:cNvPr id="34" name="Text 27"/>
          <p:cNvSpPr txBox="1"/>
          <p:nvPr/>
        </p:nvSpPr>
        <p:spPr>
          <a:xfrm>
            <a:off x="548640" y="5285232"/>
            <a:ext cx="5486400" cy="256032"/>
          </a:xfrm>
          <a:prstGeom prst="rect">
            <a:avLst/>
          </a:prstGeom>
          <a:noFill/>
          <a:ln/>
        </p:spPr>
        <p:txBody>
          <a:bodyPr wrap="square" lIns="0" tIns="0" rIns="0" bIns="0" rtlCol="0" anchor="ctr"/>
          <a:lstStyle/>
          <a:p>
            <a:pPr marL="0" indent="0">
              <a:buNone/>
            </a:pPr>
            <a:r>
              <a:rPr lang="en-US" sz="1100" b="1" kern="0" spc="200" dirty="0">
                <a:solidFill>
                  <a:schemeClr val="accent4"/>
                </a:solidFill>
              </a:rPr>
              <a:t>REFERENCES</a:t>
            </a:r>
            <a:endParaRPr lang="en-US" sz="1100" dirty="0"/>
          </a:p>
        </p:txBody>
      </p:sp>
      <p:sp>
        <p:nvSpPr>
          <p:cNvPr id="35" name="Text 28"/>
          <p:cNvSpPr txBox="1"/>
          <p:nvPr/>
        </p:nvSpPr>
        <p:spPr>
          <a:xfrm>
            <a:off x="548640" y="5541264"/>
            <a:ext cx="11094415" cy="685800"/>
          </a:xfrm>
          <a:prstGeom prst="rect">
            <a:avLst/>
          </a:prstGeom>
          <a:noFill/>
          <a:ln/>
        </p:spPr>
        <p:txBody>
          <a:bodyPr wrap="square" lIns="0" tIns="0" rIns="0" bIns="0" rtlCol="0" anchor="t"/>
          <a:lstStyle/>
          <a:p>
            <a:pPr marL="0" indent="0">
              <a:buNone/>
            </a:pPr>
            <a:r>
              <a:rPr lang="en-US" sz="1000" dirty="0">
                <a:solidFill>
                  <a:schemeClr val="accent4"/>
                </a:solidFill>
              </a:rPr>
              <a:t>[1]  J. Han, M. Kamber, J. Pei, Data Mining: Concepts and Techniques, 3rd ed., Morgan Kaufmann, 2011 (Ch. 4 and 5).</a:t>
            </a:r>
            <a:endParaRPr lang="en-US" sz="1000" dirty="0"/>
          </a:p>
          <a:p>
            <a:pPr marL="0" indent="0">
              <a:buNone/>
            </a:pPr>
            <a:r>
              <a:rPr lang="en-US" sz="1000" dirty="0">
                <a:solidFill>
                  <a:schemeClr val="accent4"/>
                </a:solidFill>
              </a:rPr>
              <a:t>[2]  A. Berson, S. J. Smith, Data Warehousing, Data Mining &amp; OLAP, Tata McGraw-Hill, 2007.</a:t>
            </a:r>
            <a:endParaRPr lang="en-US" sz="1000" dirty="0"/>
          </a:p>
          <a:p>
            <a:pPr marL="0" indent="0">
              <a:buNone/>
            </a:pPr>
            <a:r>
              <a:rPr lang="en-US" sz="1000" dirty="0">
                <a:solidFill>
                  <a:schemeClr val="accent4"/>
                </a:solidFill>
              </a:rPr>
              <a:t>[3]  J. Gray et al., "Data Cube: A Relational Aggregation Operator Generalizing Group-By, Cross-Tab, and Sub-Totals," Data Mining and Knowledge Discovery 1(1), 1997.</a:t>
            </a:r>
            <a:endParaRPr lang="en-US" sz="1000" dirty="0"/>
          </a:p>
        </p:txBody>
      </p:sp>
      <p:sp>
        <p:nvSpPr>
          <p:cNvPr id="36"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OLAP Cube">
  <a:themeElements>
    <a:clrScheme name="OLAP Cube">
      <a:dk1>
        <a:srgbClr val="0B1D36"/>
      </a:dk1>
      <a:lt1>
        <a:srgbClr val="FFFFFF"/>
      </a:lt1>
      <a:dk2>
        <a:srgbClr val="163A6B"/>
      </a:dk2>
      <a:lt2>
        <a:srgbClr val="EEF3F9"/>
      </a:lt2>
      <a:accent1>
        <a:srgbClr val="2162AB"/>
      </a:accent1>
      <a:accent2>
        <a:srgbClr val="7CB934"/>
      </a:accent2>
      <a:accent3>
        <a:srgbClr val="DC4A1A"/>
      </a:accent3>
      <a:accent4>
        <a:srgbClr val="5A6B80"/>
      </a:accent4>
      <a:accent5>
        <a:srgbClr val="D5E3F3"/>
      </a:accent5>
      <a:accent6>
        <a:srgbClr val="14305A"/>
      </a:accent6>
      <a:hlink>
        <a:srgbClr val="2162AB"/>
      </a:hlink>
      <a:folHlink>
        <a:srgbClr val="5A6B80"/>
      </a:folHlink>
    </a:clrScheme>
    <a:fontScheme name="OLAP Cub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1794</Words>
  <Application>Microsoft Office PowerPoint</Application>
  <PresentationFormat>Widescreen</PresentationFormat>
  <Paragraphs>243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OLAP Cube</vt:lpstr>
      <vt:lpstr>OLAP &amp; Data Cubes</vt:lpstr>
      <vt:lpstr>A sales database records every order, but it cannot answer the manager</vt:lpstr>
      <vt:lpstr>A data cube stores one measure at every combination of dimensions</vt:lpstr>
      <vt:lpstr>Five operations let the analyst move around the cube</vt:lpstr>
      <vt:lpstr>n dimensions give 2n cuboids, so the warehouse chooses what to precompute</vt:lpstr>
      <vt:lpstr>OLAP turns stored data into answers, from any angle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OLAP &amp; Data Cubes</dc:title>
  <dc:subject>Data Warehousing and Data Mining (CSA1604) — Technical Presentation</dc:subject>
  <dc:creator>Vino Aldrin E</dc:creator>
  <cp:lastModifiedBy>Vino Aldrin E</cp:lastModifiedBy>
  <cp:revision>3</cp:revision>
  <dcterms:created xsi:type="dcterms:W3CDTF">2026-10-02T21:07:25Z</dcterms:created>
  <dcterms:modified xsi:type="dcterms:W3CDTF">2026-10-03T08:27:38Z</dcterms:modified>
</cp:coreProperties>
</file>